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9" r:id="rId4"/>
    <p:sldId id="270" r:id="rId5"/>
    <p:sldId id="273" r:id="rId6"/>
    <p:sldId id="274" r:id="rId7"/>
    <p:sldId id="276" r:id="rId8"/>
    <p:sldId id="278" r:id="rId9"/>
    <p:sldId id="279" r:id="rId10"/>
    <p:sldId id="280" r:id="rId11"/>
    <p:sldId id="28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1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46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01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source: BH_Evidence_Lens_Final_Live_Case_Studies_NORA_RUA (1).pptx.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source: BH_Evidence_Lens_Final_Live_Case_Studies_NORA_RUA (1).pptx.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9DB9F-CDE6-1DF2-5845-EE2AE30E2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45AB2-53CE-FC4D-5546-B83284BD6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62E71-DB6E-ED18-8E9C-1280DC020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source: BH_Evidence_Lens_Final_Live_Case_Studies_NORA_RUA (1).pptx.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8DFC2-A24F-47F1-B547-A1C6152B1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98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48DAC-4DCE-1884-5B2F-7E8168A0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52AB1-F0B5-FEC1-6A84-5A0C0DFBD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AB3E1-8B77-AD8D-B8C6-21B3A0DC9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source: BH_Evidence_Lens_Final_Live_Case_Studies_NORA_RUA (1).pptx.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D9CA6-0E15-AC9E-501B-58F45AF75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4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65F7A-E15B-B401-E88A-97D70D4A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2B5DD-C781-E7FE-A395-D6A574F0E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860A9-C5F0-07E0-1AFF-AA88CC916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source: BH_Evidence_Lens_Final_Live_Case_Studies_NORA_RUA (1).pptx.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7C579-9FF7-874B-D257-080F0FE9A1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64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713DA-D8C9-3AE2-EF07-32A29E06E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CFBBC-0F12-9DD0-E4A9-42A0CD3B2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BD098-F31C-FB9F-6332-BE1CF5962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source: BH_Evidence_Lens_Final_Live_Case_Studies_NORA_RUA (1).pptx.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E8218-6286-0CB7-9C9F-768E2ADFFE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80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29832-D12A-9456-83F9-200F3F32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75B93-65DD-DF6E-B835-8B3FF988F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851A3-DD20-F334-BBEF-76027DE2C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source: BH_Evidence_Lens_Final_Live_Case_Studies_NORA_RUA (1).pptx.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99C7-46D2-BF39-58A3-107A249A5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86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&lt;File&gt;20260724_NoRA Urban framework July BoD section_v5.pptx&lt;/File&gt;: 40%+ PT, 50%+ sustainable internal trips, 70%+ internalised trips; KPIs to be tested.
- &lt;File&gt;NoRA_Mode_Share_Past_Work_Recap.pptx&lt;/File&gt;: 150 cities benchmarked, 11 shortlisted, 3 comparator groups.
- &lt;File&gt;NoRA_Mode_Share_Benchmark_Deck.pptx&lt;/File&gt;: segment, test, localise, enable and monitor framework.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&lt;File&gt;NoRA_Mode_Share_Past_Work_Recap.pptx&lt;/File&gt;: evidence base of 150 cities and 11 shortlisted comparators demonstrates a reusable research asset.
- Microsoft Learn, Billing rates and management: 2 credits for a generative answer, 5 for an agent action, 10 for tenant graph grounding; accessed 28 September 2026.
- Microsoft Copilot Studio Plans and Pricing: PAYG and prepaid options; accessed 28 September 2026.
- The 100 questions/year, 6 hours/question and loaded hourly rate are editable pilot assumptions, not measured results.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source: &lt;Event&gt;BH AI Infra Strategy&lt;/Event&gt;, 17 September 2026: the proposed shared Teams agent is intended to reduce search and recreation of existing work.
- Internal source: &lt;Event&gt;Training: A BH intro to AI (Session 01)&lt;/Event&gt;, 9 September 2026: contextual search example reduced 15–20 minutes to approximately one minute.
- Assumptions for this slide: 100 employees, 3 questions/day, 22 working days and 10 minutes saved/question. These are illustrative and must be replaced with measured pilot data.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365 Copilot enterprise pricing: $30 per user/month, paid yearly.
- Microsoft Learn, Copilot Studio billing rates: generative answer 2 credits; agent action 5 credits; tenant graph grounding 10 credits.
- Internal source: &lt;Event&gt;Training: A BH intro to AI (Session 01)&lt;/Event&gt;, 9 September 2026: a mass-adoption agent deployed through Copilot Studio can be used beyond Microsoft 365 Copilot users and is funded through credits.
- Calculations assume PAYG at $0.01 per credit and 6,600 questions/month. Actual BH enterprise pricing, tax, fair-use terms and agent design must be verified before procurement.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D82EE"/>
          </a:solidFill>
          <a:ln w="12700">
            <a:solidFill>
              <a:srgbClr val="3D82E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BH EVIDENCE LENS  •  AI DECISION SUPPORT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</a:rPr>
              <a:t>BH INFRA AI CHALLENGE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tmp_ev/73ed61049c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6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7111F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2"/>
          <p:cNvSpPr/>
          <p:nvPr/>
        </p:nvSpPr>
        <p:spPr>
          <a:xfrm>
            <a:off x="594360" y="594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3D82EE"/>
                </a:solidFill>
              </a:rPr>
              <a:t>BH INFRA AI CHALLENGE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4360" y="11430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7FAFC"/>
                </a:solidFill>
              </a:rPr>
              <a:t>BH Evidence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7FAFC"/>
                </a:solidFill>
              </a:rPr>
              <a:t>Lens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621792" y="26974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From assumption to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data backed decision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1792" y="34015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A human-led </a:t>
            </a:r>
            <a:r>
              <a:rPr lang="en-US" sz="1500" b="1" dirty="0">
                <a:solidFill>
                  <a:srgbClr val="92D050"/>
                </a:solidFill>
              </a:rPr>
              <a:t>AI agent </a:t>
            </a:r>
            <a:r>
              <a:rPr lang="en-US" sz="1500" dirty="0">
                <a:solidFill>
                  <a:srgbClr val="F7FAFC"/>
                </a:solidFill>
              </a:rPr>
              <a:t>that builds assumptions using BH knowledge, present-site evidence and future scenarios.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1792" y="48006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</a:rPr>
              <a:t>THE AGENT STRENGTHENS THE EVIDENCE.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</a:rPr>
              <a:t>THE CONSULTANT DECIDES.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8FF84C8-2060-7B64-EA51-19BC87CD94DF}"/>
              </a:ext>
            </a:extLst>
          </p:cNvPr>
          <p:cNvSpPr/>
          <p:nvPr/>
        </p:nvSpPr>
        <p:spPr>
          <a:xfrm>
            <a:off x="594360" y="56633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-Netal Chandak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3D82EE"/>
                </a:solidFill>
              </a:rPr>
              <a:t>01 | 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</a:rPr>
              <a:t>AI should improve the decision, not only accelerate the task.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7C9"/>
                </a:solidFill>
              </a:rPr>
              <a:t>Speed is useful. The strategic opportunity is to challenge the assumptions embedded in the existing process.</a:t>
            </a:r>
            <a:endParaRPr lang="en-US" sz="1250" dirty="0"/>
          </a:p>
        </p:txBody>
      </p:sp>
      <p:pic>
        <p:nvPicPr>
          <p:cNvPr id="5" name="Image 0" descr="/mnt/data/tmp_ev/cb8c4b8af5.png"/>
          <p:cNvPicPr>
            <a:picLocks noChangeAspect="1"/>
          </p:cNvPicPr>
          <p:nvPr/>
        </p:nvPicPr>
        <p:blipFill>
          <a:blip r:embed="rId3"/>
          <a:srcRect l="10000" r="10000"/>
          <a:stretch/>
        </p:blipFill>
        <p:spPr>
          <a:xfrm>
            <a:off x="548640" y="1673352"/>
            <a:ext cx="521208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73352"/>
            <a:ext cx="5212080" cy="4343400"/>
          </a:xfrm>
          <a:prstGeom prst="rect">
            <a:avLst/>
          </a:prstGeom>
          <a:solidFill>
            <a:srgbClr val="07111F">
              <a:alpha val="38000"/>
            </a:srgbClr>
          </a:solidFill>
          <a:ln w="12700">
            <a:solidFill>
              <a:srgbClr val="29405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4"/>
          <p:cNvSpPr/>
          <p:nvPr/>
        </p:nvSpPr>
        <p:spPr>
          <a:xfrm>
            <a:off x="6172200" y="1673352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01D30"/>
          </a:solidFill>
          <a:ln w="1651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5"/>
          <p:cNvSpPr/>
          <p:nvPr/>
        </p:nvSpPr>
        <p:spPr>
          <a:xfrm>
            <a:off x="6373368" y="1856232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FASTER VIEW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73368" y="2240280"/>
            <a:ext cx="211226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F7FAFC"/>
                </a:solidFill>
              </a:rPr>
              <a:t>Search faster</a:t>
            </a:r>
            <a:endParaRPr lang="en-US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F7FAFC"/>
                </a:solidFill>
              </a:rPr>
              <a:t>Draft faster</a:t>
            </a:r>
            <a:endParaRPr lang="en-US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F7FAFC"/>
                </a:solidFill>
              </a:rPr>
              <a:t>Summarise faster</a:t>
            </a:r>
            <a:endParaRPr lang="en-US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F7FAFC"/>
                </a:solidFill>
              </a:rPr>
              <a:t>Produce faster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915400" y="1673352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01D30"/>
          </a:solidFill>
          <a:ln w="1651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9116568" y="1856232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BETTER VIEW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16568" y="2240280"/>
            <a:ext cx="211226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F7FAFC"/>
                </a:solidFill>
              </a:rPr>
              <a:t>Expose assumptions</a:t>
            </a:r>
            <a:endParaRPr lang="en-US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F7FAFC"/>
                </a:solidFill>
              </a:rPr>
              <a:t>Test comparability</a:t>
            </a:r>
            <a:endParaRPr lang="en-US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F7FAFC"/>
                </a:solidFill>
              </a:rPr>
              <a:t>Find evidence gaps</a:t>
            </a:r>
            <a:endParaRPr lang="en-US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F7FAFC"/>
                </a:solidFill>
              </a:rPr>
              <a:t>Explore alternate futures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629400" y="495604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Useful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354312" y="49560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Transformative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200" y="5559552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3D82EE"/>
          </a:solidFill>
          <a:ln w="12700">
            <a:solidFill>
              <a:srgbClr val="3D82E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6400800" y="569671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AFC"/>
                </a:solidFill>
              </a:rPr>
              <a:t>MAKE ASSUMPTIONS VISIBLE, TESTABLE AND CHALLENGEABLE.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D9DDD-22B0-9A44-D215-21CA60F4269A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46BF9AF-0241-A4D7-3C58-C40EE8C8BEFE}"/>
              </a:ext>
            </a:extLst>
          </p:cNvPr>
          <p:cNvCxnSpPr>
            <a:cxnSpLocks/>
          </p:cNvCxnSpPr>
          <p:nvPr/>
        </p:nvCxnSpPr>
        <p:spPr>
          <a:xfrm>
            <a:off x="6022318" y="2148840"/>
            <a:ext cx="0" cy="2807208"/>
          </a:xfrm>
          <a:prstGeom prst="line">
            <a:avLst/>
          </a:prstGeom>
          <a:ln w="12700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6C1FAA3E-C402-DF6E-1589-0AFD85257786}"/>
              </a:ext>
            </a:extLst>
          </p:cNvPr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3D82EE"/>
                </a:solidFill>
              </a:rPr>
              <a:t>02 | THE CHALLENGE 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F25FA2-1375-34C7-41E0-D231855833E3}"/>
              </a:ext>
            </a:extLst>
          </p:cNvPr>
          <p:cNvSpPr/>
          <p:nvPr/>
        </p:nvSpPr>
        <p:spPr>
          <a:xfrm>
            <a:off x="548640" y="6675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</a:rPr>
              <a:t>Every project is built on assumptions.</a:t>
            </a:r>
            <a:endParaRPr lang="en-US" sz="2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B23134-4EE9-9CF8-A883-FB94036A9C14}"/>
              </a:ext>
            </a:extLst>
          </p:cNvPr>
          <p:cNvSpPr/>
          <p:nvPr/>
        </p:nvSpPr>
        <p:spPr>
          <a:xfrm>
            <a:off x="548640" y="11704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7C9"/>
                </a:solidFill>
              </a:rPr>
              <a:t>But too often, the evidence behind them is fragmented, hidden or difficult to challenge. </a:t>
            </a:r>
            <a:endParaRPr lang="en-US" sz="1250" dirty="0"/>
          </a:p>
        </p:txBody>
      </p:sp>
      <p:sp>
        <p:nvSpPr>
          <p:cNvPr id="32" name="Slide Number Placeholder 0">
            <a:extLst>
              <a:ext uri="{FF2B5EF4-FFF2-40B4-BE49-F238E27FC236}">
                <a16:creationId xmlns:a16="http://schemas.microsoft.com/office/drawing/2014/main" id="{3917009F-150E-64F0-B8CC-DE27CAB54D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6" name="Rounded Rectangle 9">
            <a:extLst>
              <a:ext uri="{FF2B5EF4-FFF2-40B4-BE49-F238E27FC236}">
                <a16:creationId xmlns:a16="http://schemas.microsoft.com/office/drawing/2014/main" id="{E02180BB-DFCB-3653-1AF0-7E2C83F518FC}"/>
              </a:ext>
            </a:extLst>
          </p:cNvPr>
          <p:cNvSpPr/>
          <p:nvPr/>
        </p:nvSpPr>
        <p:spPr>
          <a:xfrm>
            <a:off x="914400" y="1965960"/>
            <a:ext cx="2359152" cy="566928"/>
          </a:xfrm>
          <a:prstGeom prst="roundRect">
            <a:avLst>
              <a:gd name="adj" fmla="val 12000"/>
            </a:avLst>
          </a:prstGeom>
          <a:solidFill>
            <a:srgbClr val="112A4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CEF482-6518-C227-09A4-D40E2A66D608}"/>
              </a:ext>
            </a:extLst>
          </p:cNvPr>
          <p:cNvSpPr txBox="1"/>
          <p:nvPr/>
        </p:nvSpPr>
        <p:spPr>
          <a:xfrm>
            <a:off x="1024128" y="2148840"/>
            <a:ext cx="2139696" cy="1645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Personal experience</a:t>
            </a:r>
          </a:p>
        </p:txBody>
      </p:sp>
      <p:sp>
        <p:nvSpPr>
          <p:cNvPr id="38" name="Rounded Rectangle 11">
            <a:extLst>
              <a:ext uri="{FF2B5EF4-FFF2-40B4-BE49-F238E27FC236}">
                <a16:creationId xmlns:a16="http://schemas.microsoft.com/office/drawing/2014/main" id="{5125E282-9978-AC81-D997-46991F3C977C}"/>
              </a:ext>
            </a:extLst>
          </p:cNvPr>
          <p:cNvSpPr/>
          <p:nvPr/>
        </p:nvSpPr>
        <p:spPr>
          <a:xfrm>
            <a:off x="914400" y="4133087"/>
            <a:ext cx="2359152" cy="566928"/>
          </a:xfrm>
          <a:prstGeom prst="roundRect">
            <a:avLst>
              <a:gd name="adj" fmla="val 12000"/>
            </a:avLst>
          </a:prstGeom>
          <a:solidFill>
            <a:srgbClr val="112A45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2621D1-3E10-6804-7046-2A6957D72DD9}"/>
              </a:ext>
            </a:extLst>
          </p:cNvPr>
          <p:cNvSpPr txBox="1"/>
          <p:nvPr/>
        </p:nvSpPr>
        <p:spPr>
          <a:xfrm>
            <a:off x="1024128" y="4315968"/>
            <a:ext cx="2139696" cy="1645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Past project reports</a:t>
            </a:r>
          </a:p>
        </p:txBody>
      </p:sp>
      <p:sp>
        <p:nvSpPr>
          <p:cNvPr id="40" name="Rounded Rectangle 13">
            <a:extLst>
              <a:ext uri="{FF2B5EF4-FFF2-40B4-BE49-F238E27FC236}">
                <a16:creationId xmlns:a16="http://schemas.microsoft.com/office/drawing/2014/main" id="{FA9D3B1F-D0B0-7361-F436-3B41DD36E1B7}"/>
              </a:ext>
            </a:extLst>
          </p:cNvPr>
          <p:cNvSpPr/>
          <p:nvPr/>
        </p:nvSpPr>
        <p:spPr>
          <a:xfrm>
            <a:off x="4923049" y="4696835"/>
            <a:ext cx="2359152" cy="566928"/>
          </a:xfrm>
          <a:prstGeom prst="roundRect">
            <a:avLst>
              <a:gd name="adj" fmla="val 12000"/>
            </a:avLst>
          </a:prstGeom>
          <a:solidFill>
            <a:srgbClr val="112A45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CA3094-4FB7-FA27-F7C7-4C78FEACC037}"/>
              </a:ext>
            </a:extLst>
          </p:cNvPr>
          <p:cNvSpPr txBox="1"/>
          <p:nvPr/>
        </p:nvSpPr>
        <p:spPr>
          <a:xfrm>
            <a:off x="5032777" y="4879715"/>
            <a:ext cx="2139696" cy="1645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 dirty="0">
                <a:solidFill>
                  <a:srgbClr val="F5F8FC"/>
                </a:solidFill>
                <a:latin typeface="Aptos"/>
              </a:rPr>
              <a:t>Client targets</a:t>
            </a:r>
          </a:p>
        </p:txBody>
      </p:sp>
      <p:sp>
        <p:nvSpPr>
          <p:cNvPr id="42" name="Rounded Rectangle 15">
            <a:extLst>
              <a:ext uri="{FF2B5EF4-FFF2-40B4-BE49-F238E27FC236}">
                <a16:creationId xmlns:a16="http://schemas.microsoft.com/office/drawing/2014/main" id="{CA3F1E9C-B562-A56C-5579-10E48CB659BF}"/>
              </a:ext>
            </a:extLst>
          </p:cNvPr>
          <p:cNvSpPr/>
          <p:nvPr/>
        </p:nvSpPr>
        <p:spPr>
          <a:xfrm>
            <a:off x="8851392" y="4133087"/>
            <a:ext cx="2359152" cy="566928"/>
          </a:xfrm>
          <a:prstGeom prst="roundRect">
            <a:avLst>
              <a:gd name="adj" fmla="val 12000"/>
            </a:avLst>
          </a:prstGeom>
          <a:solidFill>
            <a:srgbClr val="112A45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B53704-00DF-DE69-A832-ABE3ABAD5A12}"/>
              </a:ext>
            </a:extLst>
          </p:cNvPr>
          <p:cNvSpPr txBox="1"/>
          <p:nvPr/>
        </p:nvSpPr>
        <p:spPr>
          <a:xfrm>
            <a:off x="8961119" y="4315968"/>
            <a:ext cx="2139696" cy="22467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n-US" sz="1100" b="1" dirty="0">
                <a:solidFill>
                  <a:srgbClr val="F5F8FC"/>
                </a:solidFill>
                <a:latin typeface="Aptos"/>
              </a:rPr>
              <a:t>Manual </a:t>
            </a:r>
            <a:r>
              <a:rPr sz="1100" b="1" dirty="0">
                <a:solidFill>
                  <a:srgbClr val="F5F8FC"/>
                </a:solidFill>
                <a:latin typeface="Aptos"/>
              </a:rPr>
              <a:t>External research</a:t>
            </a:r>
          </a:p>
        </p:txBody>
      </p:sp>
      <p:sp>
        <p:nvSpPr>
          <p:cNvPr id="44" name="Rounded Rectangle 17">
            <a:extLst>
              <a:ext uri="{FF2B5EF4-FFF2-40B4-BE49-F238E27FC236}">
                <a16:creationId xmlns:a16="http://schemas.microsoft.com/office/drawing/2014/main" id="{C6395FCD-BECB-8DA7-1517-1F83997C10D5}"/>
              </a:ext>
            </a:extLst>
          </p:cNvPr>
          <p:cNvSpPr/>
          <p:nvPr/>
        </p:nvSpPr>
        <p:spPr>
          <a:xfrm>
            <a:off x="8918448" y="1925829"/>
            <a:ext cx="2359152" cy="566928"/>
          </a:xfrm>
          <a:prstGeom prst="roundRect">
            <a:avLst>
              <a:gd name="adj" fmla="val 12000"/>
            </a:avLst>
          </a:prstGeom>
          <a:solidFill>
            <a:srgbClr val="112A45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E1D1C6-29C4-12C9-53F8-64B8D281F652}"/>
              </a:ext>
            </a:extLst>
          </p:cNvPr>
          <p:cNvSpPr txBox="1"/>
          <p:nvPr/>
        </p:nvSpPr>
        <p:spPr>
          <a:xfrm>
            <a:off x="9028175" y="2108709"/>
            <a:ext cx="2139696" cy="1645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Site evidence</a:t>
            </a:r>
          </a:p>
        </p:txBody>
      </p:sp>
      <p:sp>
        <p:nvSpPr>
          <p:cNvPr id="46" name="Rounded Rectangle 19">
            <a:extLst>
              <a:ext uri="{FF2B5EF4-FFF2-40B4-BE49-F238E27FC236}">
                <a16:creationId xmlns:a16="http://schemas.microsoft.com/office/drawing/2014/main" id="{7C96F622-7801-64A7-387E-783F3DCFCB8C}"/>
              </a:ext>
            </a:extLst>
          </p:cNvPr>
          <p:cNvSpPr/>
          <p:nvPr/>
        </p:nvSpPr>
        <p:spPr>
          <a:xfrm>
            <a:off x="4916424" y="1645920"/>
            <a:ext cx="2359152" cy="566928"/>
          </a:xfrm>
          <a:prstGeom prst="roundRect">
            <a:avLst>
              <a:gd name="adj" fmla="val 12000"/>
            </a:avLst>
          </a:prstGeom>
          <a:solidFill>
            <a:srgbClr val="112A45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A0B9F1-2C3A-9715-4AF6-E088A51B789A}"/>
              </a:ext>
            </a:extLst>
          </p:cNvPr>
          <p:cNvSpPr txBox="1"/>
          <p:nvPr/>
        </p:nvSpPr>
        <p:spPr>
          <a:xfrm>
            <a:off x="5026152" y="1821689"/>
            <a:ext cx="2139696" cy="1645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 dirty="0">
                <a:solidFill>
                  <a:srgbClr val="F5F8FC"/>
                </a:solidFill>
                <a:latin typeface="Aptos"/>
              </a:rPr>
              <a:t>Programme &amp; phasing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C09E13-F993-A1A8-3F97-8B0FFE22B783}"/>
              </a:ext>
            </a:extLst>
          </p:cNvPr>
          <p:cNvSpPr txBox="1"/>
          <p:nvPr/>
        </p:nvSpPr>
        <p:spPr>
          <a:xfrm>
            <a:off x="868680" y="5596128"/>
            <a:ext cx="10469880" cy="237744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THE PROBLEM IS NOT THAT ASSUMPTIONS EXIST.  IT IS THAT THEIR EVIDENCE TRAIL IS NOT REPEATABLE.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E7263B-BAA0-E1E7-D9B9-4295A956C687}"/>
              </a:ext>
            </a:extLst>
          </p:cNvPr>
          <p:cNvSpPr txBox="1"/>
          <p:nvPr/>
        </p:nvSpPr>
        <p:spPr>
          <a:xfrm>
            <a:off x="1235456" y="5907024"/>
            <a:ext cx="9738360" cy="1828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dirty="0">
                <a:solidFill>
                  <a:srgbClr val="F59E0B"/>
                </a:solidFill>
                <a:latin typeface="Aptos"/>
              </a:rPr>
              <a:t>When an assumption cannot be traced, it cannot be properly challenged.</a:t>
            </a:r>
          </a:p>
        </p:txBody>
      </p:sp>
      <p:sp>
        <p:nvSpPr>
          <p:cNvPr id="33" name="Rounded Rectangle 6">
            <a:extLst>
              <a:ext uri="{FF2B5EF4-FFF2-40B4-BE49-F238E27FC236}">
                <a16:creationId xmlns:a16="http://schemas.microsoft.com/office/drawing/2014/main" id="{4B4D6476-995C-5BEA-C088-22116836B2F8}"/>
              </a:ext>
            </a:extLst>
          </p:cNvPr>
          <p:cNvSpPr/>
          <p:nvPr/>
        </p:nvSpPr>
        <p:spPr>
          <a:xfrm>
            <a:off x="3904487" y="2852929"/>
            <a:ext cx="4370832" cy="1042415"/>
          </a:xfrm>
          <a:prstGeom prst="roundRect">
            <a:avLst>
              <a:gd name="adj" fmla="val 12000"/>
            </a:avLst>
          </a:prstGeom>
          <a:solidFill>
            <a:srgbClr val="14314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072A5B-EA94-C6B3-E657-81BD490A2093}"/>
              </a:ext>
            </a:extLst>
          </p:cNvPr>
          <p:cNvSpPr txBox="1"/>
          <p:nvPr/>
        </p:nvSpPr>
        <p:spPr>
          <a:xfrm>
            <a:off x="4197096" y="3054097"/>
            <a:ext cx="3794760" cy="1645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60A5FA"/>
                </a:solidFill>
                <a:latin typeface="Aptos"/>
              </a:rPr>
              <a:t>THE PROJECT QUESTION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FB2A40-5C32-C8D9-DEA8-FCC1DCC19686}"/>
              </a:ext>
            </a:extLst>
          </p:cNvPr>
          <p:cNvSpPr txBox="1"/>
          <p:nvPr/>
        </p:nvSpPr>
        <p:spPr>
          <a:xfrm>
            <a:off x="4178808" y="3310129"/>
            <a:ext cx="3822191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How much capacity will this district need?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87CFA56-2E02-308F-3A1F-10F8A6941681}"/>
              </a:ext>
            </a:extLst>
          </p:cNvPr>
          <p:cNvSpPr/>
          <p:nvPr/>
        </p:nvSpPr>
        <p:spPr>
          <a:xfrm>
            <a:off x="2032000" y="2540000"/>
            <a:ext cx="1879600" cy="792480"/>
          </a:xfrm>
          <a:custGeom>
            <a:avLst/>
            <a:gdLst>
              <a:gd name="csX0" fmla="*/ 0 w 1879600"/>
              <a:gd name="csY0" fmla="*/ 0 h 792480"/>
              <a:gd name="csX1" fmla="*/ 0 w 1879600"/>
              <a:gd name="csY1" fmla="*/ 792480 h 792480"/>
              <a:gd name="csX2" fmla="*/ 1879600 w 1879600"/>
              <a:gd name="csY2" fmla="*/ 792480 h 792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79600" h="792480">
                <a:moveTo>
                  <a:pt x="0" y="0"/>
                </a:moveTo>
                <a:lnTo>
                  <a:pt x="0" y="792480"/>
                </a:lnTo>
                <a:lnTo>
                  <a:pt x="1879600" y="792480"/>
                </a:ln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9912F9D-6AA5-860E-87F4-A18BAE9B5D11}"/>
              </a:ext>
            </a:extLst>
          </p:cNvPr>
          <p:cNvSpPr/>
          <p:nvPr/>
        </p:nvSpPr>
        <p:spPr>
          <a:xfrm>
            <a:off x="2032000" y="3454400"/>
            <a:ext cx="1879600" cy="660400"/>
          </a:xfrm>
          <a:custGeom>
            <a:avLst/>
            <a:gdLst>
              <a:gd name="csX0" fmla="*/ 1849120 w 1849120"/>
              <a:gd name="csY0" fmla="*/ 0 h 660400"/>
              <a:gd name="csX1" fmla="*/ 0 w 1849120"/>
              <a:gd name="csY1" fmla="*/ 0 h 660400"/>
              <a:gd name="csX2" fmla="*/ 0 w 1849120"/>
              <a:gd name="csY2" fmla="*/ 660400 h 66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49120" h="660400">
                <a:moveTo>
                  <a:pt x="1849120" y="0"/>
                </a:moveTo>
                <a:lnTo>
                  <a:pt x="0" y="0"/>
                </a:lnTo>
                <a:lnTo>
                  <a:pt x="0" y="660400"/>
                </a:ln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86214FD-670F-A69E-D6F1-55EC8E0936CA}"/>
              </a:ext>
            </a:extLst>
          </p:cNvPr>
          <p:cNvSpPr/>
          <p:nvPr/>
        </p:nvSpPr>
        <p:spPr>
          <a:xfrm flipH="1">
            <a:off x="8275319" y="2514600"/>
            <a:ext cx="1879600" cy="792480"/>
          </a:xfrm>
          <a:custGeom>
            <a:avLst/>
            <a:gdLst>
              <a:gd name="csX0" fmla="*/ 0 w 1879600"/>
              <a:gd name="csY0" fmla="*/ 0 h 792480"/>
              <a:gd name="csX1" fmla="*/ 0 w 1879600"/>
              <a:gd name="csY1" fmla="*/ 792480 h 792480"/>
              <a:gd name="csX2" fmla="*/ 1879600 w 1879600"/>
              <a:gd name="csY2" fmla="*/ 792480 h 792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79600" h="792480">
                <a:moveTo>
                  <a:pt x="0" y="0"/>
                </a:moveTo>
                <a:lnTo>
                  <a:pt x="0" y="792480"/>
                </a:lnTo>
                <a:lnTo>
                  <a:pt x="1879600" y="792480"/>
                </a:ln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019BFBA3-6C5F-48C9-8AB7-C534FEBD54CC}"/>
              </a:ext>
            </a:extLst>
          </p:cNvPr>
          <p:cNvSpPr/>
          <p:nvPr/>
        </p:nvSpPr>
        <p:spPr>
          <a:xfrm flipH="1">
            <a:off x="8275319" y="3429000"/>
            <a:ext cx="1879600" cy="660400"/>
          </a:xfrm>
          <a:custGeom>
            <a:avLst/>
            <a:gdLst>
              <a:gd name="csX0" fmla="*/ 1849120 w 1849120"/>
              <a:gd name="csY0" fmla="*/ 0 h 660400"/>
              <a:gd name="csX1" fmla="*/ 0 w 1849120"/>
              <a:gd name="csY1" fmla="*/ 0 h 660400"/>
              <a:gd name="csX2" fmla="*/ 0 w 1849120"/>
              <a:gd name="csY2" fmla="*/ 660400 h 66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49120" h="660400">
                <a:moveTo>
                  <a:pt x="1849120" y="0"/>
                </a:moveTo>
                <a:lnTo>
                  <a:pt x="0" y="0"/>
                </a:lnTo>
                <a:lnTo>
                  <a:pt x="0" y="660400"/>
                </a:ln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2621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F356D-02AA-B4D8-6995-A4D552A5FA9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89AE5BE-3D15-56AC-37CB-3407E3DBB709}"/>
              </a:ext>
            </a:extLst>
          </p:cNvPr>
          <p:cNvSpPr txBox="1"/>
          <p:nvPr/>
        </p:nvSpPr>
        <p:spPr>
          <a:xfrm>
            <a:off x="384048" y="530352"/>
            <a:ext cx="10972800" cy="47548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Same project question. Different consultant. Different assumption.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143F0-EB5C-DA93-EA4C-73216BC32C01}"/>
              </a:ext>
            </a:extLst>
          </p:cNvPr>
          <p:cNvSpPr txBox="1"/>
          <p:nvPr/>
        </p:nvSpPr>
        <p:spPr>
          <a:xfrm>
            <a:off x="402336" y="1097280"/>
            <a:ext cx="1097280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Professional diversity is valuable. Hidden, unstructured differences are the risk.</a:t>
            </a:r>
          </a:p>
        </p:txBody>
      </p:sp>
      <p:cxnSp>
        <p:nvCxnSpPr>
          <p:cNvPr id="9" name="Connector 4">
            <a:extLst>
              <a:ext uri="{FF2B5EF4-FFF2-40B4-BE49-F238E27FC236}">
                <a16:creationId xmlns:a16="http://schemas.microsoft.com/office/drawing/2014/main" id="{55884026-4630-06D7-DF97-AB9F89C38951}"/>
              </a:ext>
            </a:extLst>
          </p:cNvPr>
          <p:cNvCxnSpPr/>
          <p:nvPr/>
        </p:nvCxnSpPr>
        <p:spPr>
          <a:xfrm>
            <a:off x="384048" y="1499616"/>
            <a:ext cx="11420856" cy="0"/>
          </a:xfrm>
          <a:prstGeom prst="line">
            <a:avLst/>
          </a:prstGeom>
          <a:ln w="10160">
            <a:solidFill>
              <a:srgbClr val="305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72B6D5D2-E866-11A8-05C1-C5F1BD0A9A86}"/>
              </a:ext>
            </a:extLst>
          </p:cNvPr>
          <p:cNvSpPr/>
          <p:nvPr/>
        </p:nvSpPr>
        <p:spPr>
          <a:xfrm>
            <a:off x="475488" y="1883664"/>
            <a:ext cx="2084831" cy="2084831"/>
          </a:xfrm>
          <a:prstGeom prst="roundRect">
            <a:avLst>
              <a:gd name="adj" fmla="val 12000"/>
            </a:avLst>
          </a:prstGeom>
          <a:solidFill>
            <a:srgbClr val="112A4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50F38E-CA9E-B2A9-1C9D-CE8DBF657A73}"/>
              </a:ext>
            </a:extLst>
          </p:cNvPr>
          <p:cNvSpPr txBox="1"/>
          <p:nvPr/>
        </p:nvSpPr>
        <p:spPr>
          <a:xfrm>
            <a:off x="585216" y="2112264"/>
            <a:ext cx="1856231" cy="1645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TRANSPORT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922919-D0A9-C6B5-E8EB-40CCEC8787C4}"/>
              </a:ext>
            </a:extLst>
          </p:cNvPr>
          <p:cNvSpPr txBox="1"/>
          <p:nvPr/>
        </p:nvSpPr>
        <p:spPr>
          <a:xfrm>
            <a:off x="795528" y="2542032"/>
            <a:ext cx="1627632" cy="54014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sz="1050" b="0" dirty="0">
                <a:solidFill>
                  <a:srgbClr val="F5F8FC"/>
                </a:solidFill>
                <a:latin typeface="Aptos"/>
              </a:rPr>
              <a:t>Network capacity </a:t>
            </a:r>
            <a:endParaRPr lang="en-US" sz="1050" b="0" dirty="0">
              <a:solidFill>
                <a:srgbClr val="F5F8FC"/>
              </a:solidFill>
              <a:latin typeface="Aptos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sz="1050" b="0" dirty="0">
                <a:solidFill>
                  <a:srgbClr val="F5F8FC"/>
                </a:solidFill>
                <a:latin typeface="Aptos"/>
              </a:rPr>
              <a:t> </a:t>
            </a:r>
            <a:r>
              <a:rPr lang="en-US" sz="1050" dirty="0">
                <a:solidFill>
                  <a:srgbClr val="F5F8FC"/>
                </a:solidFill>
                <a:latin typeface="Aptos"/>
              </a:rPr>
              <a:t>M</a:t>
            </a:r>
            <a:r>
              <a:rPr sz="1050" b="0" dirty="0">
                <a:solidFill>
                  <a:srgbClr val="F5F8FC"/>
                </a:solidFill>
                <a:latin typeface="Aptos"/>
              </a:rPr>
              <a:t>ode share </a:t>
            </a:r>
            <a:endParaRPr lang="en-US" sz="1050" b="0" dirty="0">
              <a:solidFill>
                <a:srgbClr val="F5F8FC"/>
              </a:solidFill>
              <a:latin typeface="Aptos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F5F8FC"/>
                </a:solidFill>
                <a:latin typeface="Aptos"/>
              </a:rPr>
              <a:t>P</a:t>
            </a:r>
            <a:r>
              <a:rPr sz="1050" b="0" dirty="0">
                <a:solidFill>
                  <a:srgbClr val="F5F8FC"/>
                </a:solidFill>
                <a:latin typeface="Aptos"/>
              </a:rPr>
              <a:t>arking</a:t>
            </a:r>
          </a:p>
        </p:txBody>
      </p:sp>
      <p:cxnSp>
        <p:nvCxnSpPr>
          <p:cNvPr id="14" name="Connector 9">
            <a:extLst>
              <a:ext uri="{FF2B5EF4-FFF2-40B4-BE49-F238E27FC236}">
                <a16:creationId xmlns:a16="http://schemas.microsoft.com/office/drawing/2014/main" id="{36703335-94EB-374C-D118-F21E613862DD}"/>
              </a:ext>
            </a:extLst>
          </p:cNvPr>
          <p:cNvCxnSpPr/>
          <p:nvPr/>
        </p:nvCxnSpPr>
        <p:spPr>
          <a:xfrm>
            <a:off x="795528" y="2359235"/>
            <a:ext cx="1444752" cy="0"/>
          </a:xfrm>
          <a:prstGeom prst="line">
            <a:avLst/>
          </a:prstGeom>
          <a:ln w="1016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1">
            <a:extLst>
              <a:ext uri="{FF2B5EF4-FFF2-40B4-BE49-F238E27FC236}">
                <a16:creationId xmlns:a16="http://schemas.microsoft.com/office/drawing/2014/main" id="{E877CC42-B26F-3344-C476-68EBC990D626}"/>
              </a:ext>
            </a:extLst>
          </p:cNvPr>
          <p:cNvCxnSpPr/>
          <p:nvPr/>
        </p:nvCxnSpPr>
        <p:spPr>
          <a:xfrm>
            <a:off x="1517904" y="3968496"/>
            <a:ext cx="4572000" cy="630936"/>
          </a:xfrm>
          <a:prstGeom prst="line">
            <a:avLst/>
          </a:prstGeom>
          <a:ln w="1143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619CD6F6-366E-4B1B-1951-8814E910CDCE}"/>
              </a:ext>
            </a:extLst>
          </p:cNvPr>
          <p:cNvSpPr/>
          <p:nvPr/>
        </p:nvSpPr>
        <p:spPr>
          <a:xfrm>
            <a:off x="2852928" y="1883664"/>
            <a:ext cx="2084831" cy="2084831"/>
          </a:xfrm>
          <a:prstGeom prst="roundRect">
            <a:avLst>
              <a:gd name="adj" fmla="val 12000"/>
            </a:avLst>
          </a:prstGeom>
          <a:solidFill>
            <a:srgbClr val="112A45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9A1A3-E12A-FDBF-1421-38FE57652090}"/>
              </a:ext>
            </a:extLst>
          </p:cNvPr>
          <p:cNvSpPr txBox="1"/>
          <p:nvPr/>
        </p:nvSpPr>
        <p:spPr>
          <a:xfrm>
            <a:off x="2962656" y="2112264"/>
            <a:ext cx="1856231" cy="1645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60A5FA"/>
                </a:solidFill>
                <a:latin typeface="Aptos"/>
              </a:rPr>
              <a:t>URBAN STRATEGY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1A1676-5461-CF22-0DF1-313AD2F6A246}"/>
              </a:ext>
            </a:extLst>
          </p:cNvPr>
          <p:cNvSpPr txBox="1"/>
          <p:nvPr/>
        </p:nvSpPr>
        <p:spPr>
          <a:xfrm>
            <a:off x="3172968" y="2542032"/>
            <a:ext cx="1627632" cy="54014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sz="1050" b="0" dirty="0">
                <a:solidFill>
                  <a:srgbClr val="F5F8FC"/>
                </a:solidFill>
                <a:latin typeface="Aptos"/>
              </a:rPr>
              <a:t>Density </a:t>
            </a:r>
            <a:endParaRPr lang="en-US" sz="1050" dirty="0">
              <a:solidFill>
                <a:srgbClr val="F5F8FC"/>
              </a:solidFill>
              <a:latin typeface="Aptos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F5F8FC"/>
                </a:solidFill>
                <a:latin typeface="Aptos"/>
              </a:rPr>
              <a:t>A</a:t>
            </a:r>
            <a:r>
              <a:rPr sz="1050" b="0" dirty="0">
                <a:solidFill>
                  <a:srgbClr val="F5F8FC"/>
                </a:solidFill>
                <a:latin typeface="Aptos"/>
              </a:rPr>
              <a:t>ctivation </a:t>
            </a:r>
            <a:endParaRPr lang="en-US" sz="1050" b="0" dirty="0">
              <a:solidFill>
                <a:srgbClr val="F5F8FC"/>
              </a:solidFill>
              <a:latin typeface="Aptos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sz="1050" b="0" dirty="0">
                <a:solidFill>
                  <a:srgbClr val="F5F8FC"/>
                </a:solidFill>
                <a:latin typeface="Aptos"/>
              </a:rPr>
              <a:t>land use</a:t>
            </a:r>
          </a:p>
        </p:txBody>
      </p:sp>
      <p:cxnSp>
        <p:nvCxnSpPr>
          <p:cNvPr id="20" name="Connector 15">
            <a:extLst>
              <a:ext uri="{FF2B5EF4-FFF2-40B4-BE49-F238E27FC236}">
                <a16:creationId xmlns:a16="http://schemas.microsoft.com/office/drawing/2014/main" id="{5A819D00-321B-736E-1C8D-E339A77A868E}"/>
              </a:ext>
            </a:extLst>
          </p:cNvPr>
          <p:cNvCxnSpPr/>
          <p:nvPr/>
        </p:nvCxnSpPr>
        <p:spPr>
          <a:xfrm>
            <a:off x="3172968" y="2359235"/>
            <a:ext cx="1444752" cy="0"/>
          </a:xfrm>
          <a:prstGeom prst="line">
            <a:avLst/>
          </a:prstGeom>
          <a:ln w="1016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17">
            <a:extLst>
              <a:ext uri="{FF2B5EF4-FFF2-40B4-BE49-F238E27FC236}">
                <a16:creationId xmlns:a16="http://schemas.microsoft.com/office/drawing/2014/main" id="{098E0BD4-0AC1-8E14-BF04-B9650E25FA0A}"/>
              </a:ext>
            </a:extLst>
          </p:cNvPr>
          <p:cNvCxnSpPr/>
          <p:nvPr/>
        </p:nvCxnSpPr>
        <p:spPr>
          <a:xfrm>
            <a:off x="3895344" y="3968496"/>
            <a:ext cx="2194560" cy="630936"/>
          </a:xfrm>
          <a:prstGeom prst="line">
            <a:avLst/>
          </a:prstGeom>
          <a:ln w="1143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18">
            <a:extLst>
              <a:ext uri="{FF2B5EF4-FFF2-40B4-BE49-F238E27FC236}">
                <a16:creationId xmlns:a16="http://schemas.microsoft.com/office/drawing/2014/main" id="{E660CD3A-79FB-33B9-F518-A2DF03E3EBAA}"/>
              </a:ext>
            </a:extLst>
          </p:cNvPr>
          <p:cNvSpPr/>
          <p:nvPr/>
        </p:nvSpPr>
        <p:spPr>
          <a:xfrm>
            <a:off x="5230368" y="1883664"/>
            <a:ext cx="2084831" cy="2084831"/>
          </a:xfrm>
          <a:prstGeom prst="roundRect">
            <a:avLst>
              <a:gd name="adj" fmla="val 12000"/>
            </a:avLst>
          </a:prstGeom>
          <a:solidFill>
            <a:srgbClr val="112A45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BA51EC-B49E-2003-357A-63947B6E271C}"/>
              </a:ext>
            </a:extLst>
          </p:cNvPr>
          <p:cNvSpPr txBox="1"/>
          <p:nvPr/>
        </p:nvSpPr>
        <p:spPr>
          <a:xfrm>
            <a:off x="5340096" y="2112264"/>
            <a:ext cx="1856231" cy="1645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Aptos"/>
              </a:rPr>
              <a:t>INFRASTRUCTURE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926DF2-AA4B-9CF9-57A4-A043C559663D}"/>
              </a:ext>
            </a:extLst>
          </p:cNvPr>
          <p:cNvSpPr txBox="1"/>
          <p:nvPr/>
        </p:nvSpPr>
        <p:spPr>
          <a:xfrm>
            <a:off x="5367528" y="2542032"/>
            <a:ext cx="1810512" cy="54014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sz="1050" b="0" dirty="0">
                <a:solidFill>
                  <a:srgbClr val="F5F8FC"/>
                </a:solidFill>
                <a:latin typeface="Aptos"/>
              </a:rPr>
              <a:t>Delivery </a:t>
            </a:r>
            <a:endParaRPr lang="en-US" sz="1050" dirty="0">
              <a:solidFill>
                <a:srgbClr val="F5F8FC"/>
              </a:solidFill>
              <a:latin typeface="Aptos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b="0" dirty="0">
                <a:solidFill>
                  <a:srgbClr val="F5F8FC"/>
                </a:solidFill>
                <a:latin typeface="Aptos"/>
              </a:rPr>
              <a:t>R</a:t>
            </a:r>
            <a:r>
              <a:rPr sz="1050" b="0" dirty="0">
                <a:solidFill>
                  <a:srgbClr val="F5F8FC"/>
                </a:solidFill>
                <a:latin typeface="Aptos"/>
              </a:rPr>
              <a:t>eadiness </a:t>
            </a:r>
            <a:endParaRPr lang="en-US" sz="1050" b="0" dirty="0">
              <a:solidFill>
                <a:srgbClr val="F5F8FC"/>
              </a:solidFill>
              <a:latin typeface="Aptos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F5F8FC"/>
                </a:solidFill>
                <a:latin typeface="Aptos"/>
              </a:rPr>
              <a:t>R</a:t>
            </a:r>
            <a:r>
              <a:rPr sz="1050" b="0" dirty="0">
                <a:solidFill>
                  <a:srgbClr val="F5F8FC"/>
                </a:solidFill>
                <a:latin typeface="Aptos"/>
              </a:rPr>
              <a:t>esilience</a:t>
            </a:r>
          </a:p>
        </p:txBody>
      </p:sp>
      <p:cxnSp>
        <p:nvCxnSpPr>
          <p:cNvPr id="26" name="Connector 21">
            <a:extLst>
              <a:ext uri="{FF2B5EF4-FFF2-40B4-BE49-F238E27FC236}">
                <a16:creationId xmlns:a16="http://schemas.microsoft.com/office/drawing/2014/main" id="{4F10E942-0343-C824-C5E6-543D9D30E56A}"/>
              </a:ext>
            </a:extLst>
          </p:cNvPr>
          <p:cNvCxnSpPr/>
          <p:nvPr/>
        </p:nvCxnSpPr>
        <p:spPr>
          <a:xfrm>
            <a:off x="5550407" y="2359235"/>
            <a:ext cx="1444752" cy="0"/>
          </a:xfrm>
          <a:prstGeom prst="line">
            <a:avLst/>
          </a:prstGeom>
          <a:ln w="1016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3">
            <a:extLst>
              <a:ext uri="{FF2B5EF4-FFF2-40B4-BE49-F238E27FC236}">
                <a16:creationId xmlns:a16="http://schemas.microsoft.com/office/drawing/2014/main" id="{D73C99D5-9971-87AD-0106-A464F667ED13}"/>
              </a:ext>
            </a:extLst>
          </p:cNvPr>
          <p:cNvCxnSpPr/>
          <p:nvPr/>
        </p:nvCxnSpPr>
        <p:spPr>
          <a:xfrm flipH="1">
            <a:off x="6089904" y="3968496"/>
            <a:ext cx="182879" cy="630936"/>
          </a:xfrm>
          <a:prstGeom prst="line">
            <a:avLst/>
          </a:prstGeom>
          <a:ln w="1143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4">
            <a:extLst>
              <a:ext uri="{FF2B5EF4-FFF2-40B4-BE49-F238E27FC236}">
                <a16:creationId xmlns:a16="http://schemas.microsoft.com/office/drawing/2014/main" id="{A621EEC5-77DE-C7EE-466C-75A64793C021}"/>
              </a:ext>
            </a:extLst>
          </p:cNvPr>
          <p:cNvSpPr/>
          <p:nvPr/>
        </p:nvSpPr>
        <p:spPr>
          <a:xfrm>
            <a:off x="7607808" y="1883664"/>
            <a:ext cx="2084831" cy="2084831"/>
          </a:xfrm>
          <a:prstGeom prst="roundRect">
            <a:avLst>
              <a:gd name="adj" fmla="val 12000"/>
            </a:avLst>
          </a:prstGeom>
          <a:solidFill>
            <a:srgbClr val="112A4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C68989-7741-6E6B-B16D-C2B27599C22A}"/>
              </a:ext>
            </a:extLst>
          </p:cNvPr>
          <p:cNvSpPr txBox="1"/>
          <p:nvPr/>
        </p:nvSpPr>
        <p:spPr>
          <a:xfrm>
            <a:off x="7717536" y="2112264"/>
            <a:ext cx="1856231" cy="1645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CLIMATE + RESILIENCE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AAAEAD-50E3-094D-3E22-8339A84C973D}"/>
              </a:ext>
            </a:extLst>
          </p:cNvPr>
          <p:cNvSpPr txBox="1"/>
          <p:nvPr/>
        </p:nvSpPr>
        <p:spPr>
          <a:xfrm>
            <a:off x="7927848" y="2542032"/>
            <a:ext cx="1627632" cy="54014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sz="1050" b="0" dirty="0">
                <a:solidFill>
                  <a:srgbClr val="F5F8FC"/>
                </a:solidFill>
                <a:latin typeface="Aptos"/>
              </a:rPr>
              <a:t>Future baselines </a:t>
            </a:r>
            <a:endParaRPr lang="en-US" sz="1050" dirty="0">
              <a:solidFill>
                <a:srgbClr val="F5F8FC"/>
              </a:solidFill>
              <a:latin typeface="Aptos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F5F8FC"/>
                </a:solidFill>
                <a:latin typeface="Aptos"/>
              </a:rPr>
              <a:t>H</a:t>
            </a:r>
            <a:r>
              <a:rPr sz="1050" b="0" dirty="0">
                <a:solidFill>
                  <a:srgbClr val="F5F8FC"/>
                </a:solidFill>
                <a:latin typeface="Aptos"/>
              </a:rPr>
              <a:t>eat </a:t>
            </a:r>
            <a:endParaRPr lang="en-US" sz="1050" b="0" dirty="0">
              <a:solidFill>
                <a:srgbClr val="F5F8FC"/>
              </a:solidFill>
              <a:latin typeface="Aptos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AE" sz="1050" dirty="0">
                <a:solidFill>
                  <a:srgbClr val="F5F8FC"/>
                </a:solidFill>
                <a:latin typeface="Aptos"/>
              </a:rPr>
              <a:t>R</a:t>
            </a:r>
            <a:r>
              <a:rPr sz="1050" b="0" dirty="0" err="1">
                <a:solidFill>
                  <a:srgbClr val="F5F8FC"/>
                </a:solidFill>
                <a:latin typeface="Aptos"/>
              </a:rPr>
              <a:t>isk</a:t>
            </a:r>
            <a:endParaRPr sz="1050" b="0" dirty="0">
              <a:solidFill>
                <a:srgbClr val="F5F8FC"/>
              </a:solidFill>
              <a:latin typeface="Aptos"/>
            </a:endParaRPr>
          </a:p>
        </p:txBody>
      </p:sp>
      <p:cxnSp>
        <p:nvCxnSpPr>
          <p:cNvPr id="48" name="Connector 27">
            <a:extLst>
              <a:ext uri="{FF2B5EF4-FFF2-40B4-BE49-F238E27FC236}">
                <a16:creationId xmlns:a16="http://schemas.microsoft.com/office/drawing/2014/main" id="{38296D6E-9C12-8FA3-0CCB-3C36335F5952}"/>
              </a:ext>
            </a:extLst>
          </p:cNvPr>
          <p:cNvCxnSpPr/>
          <p:nvPr/>
        </p:nvCxnSpPr>
        <p:spPr>
          <a:xfrm>
            <a:off x="7927848" y="2359235"/>
            <a:ext cx="1444752" cy="0"/>
          </a:xfrm>
          <a:prstGeom prst="line">
            <a:avLst/>
          </a:prstGeom>
          <a:ln w="1016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29">
            <a:extLst>
              <a:ext uri="{FF2B5EF4-FFF2-40B4-BE49-F238E27FC236}">
                <a16:creationId xmlns:a16="http://schemas.microsoft.com/office/drawing/2014/main" id="{F2DCB989-786F-71D7-83F9-29DA66B0A305}"/>
              </a:ext>
            </a:extLst>
          </p:cNvPr>
          <p:cNvCxnSpPr/>
          <p:nvPr/>
        </p:nvCxnSpPr>
        <p:spPr>
          <a:xfrm flipH="1">
            <a:off x="6089904" y="3968496"/>
            <a:ext cx="2560320" cy="630936"/>
          </a:xfrm>
          <a:prstGeom prst="line">
            <a:avLst/>
          </a:prstGeom>
          <a:ln w="1143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30">
            <a:extLst>
              <a:ext uri="{FF2B5EF4-FFF2-40B4-BE49-F238E27FC236}">
                <a16:creationId xmlns:a16="http://schemas.microsoft.com/office/drawing/2014/main" id="{4587AA22-D83A-E754-BB26-11CAC3E87255}"/>
              </a:ext>
            </a:extLst>
          </p:cNvPr>
          <p:cNvSpPr/>
          <p:nvPr/>
        </p:nvSpPr>
        <p:spPr>
          <a:xfrm>
            <a:off x="9985248" y="1883664"/>
            <a:ext cx="2084831" cy="2084831"/>
          </a:xfrm>
          <a:prstGeom prst="roundRect">
            <a:avLst>
              <a:gd name="adj" fmla="val 12000"/>
            </a:avLst>
          </a:prstGeom>
          <a:solidFill>
            <a:srgbClr val="112A45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2212BB-CA87-BBBA-DA0D-BDAC43D43FB3}"/>
              </a:ext>
            </a:extLst>
          </p:cNvPr>
          <p:cNvSpPr txBox="1"/>
          <p:nvPr/>
        </p:nvSpPr>
        <p:spPr>
          <a:xfrm>
            <a:off x="10094976" y="2112264"/>
            <a:ext cx="1856231" cy="1645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Aptos"/>
              </a:rPr>
              <a:t>BUILDINGS + PLACES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3CF715-379D-B040-0619-4CC7F33F5AF2}"/>
              </a:ext>
            </a:extLst>
          </p:cNvPr>
          <p:cNvSpPr txBox="1"/>
          <p:nvPr/>
        </p:nvSpPr>
        <p:spPr>
          <a:xfrm>
            <a:off x="10305288" y="2542032"/>
            <a:ext cx="1627632" cy="54014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sz="1050" b="0" dirty="0">
                <a:solidFill>
                  <a:srgbClr val="F5F8FC"/>
                </a:solidFill>
                <a:latin typeface="Aptos"/>
              </a:rPr>
              <a:t>Occupancy </a:t>
            </a:r>
            <a:endParaRPr lang="en-US" sz="1050" dirty="0">
              <a:solidFill>
                <a:srgbClr val="F5F8FC"/>
              </a:solidFill>
              <a:latin typeface="Aptos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F5F8FC"/>
                </a:solidFill>
                <a:latin typeface="Aptos"/>
              </a:rPr>
              <a:t>E</a:t>
            </a:r>
            <a:r>
              <a:rPr sz="1050" b="0" dirty="0">
                <a:solidFill>
                  <a:srgbClr val="F5F8FC"/>
                </a:solidFill>
                <a:latin typeface="Aptos"/>
              </a:rPr>
              <a:t>nergy </a:t>
            </a:r>
            <a:endParaRPr lang="en-US" sz="1050" b="0" dirty="0">
              <a:solidFill>
                <a:srgbClr val="F5F8FC"/>
              </a:solidFill>
              <a:latin typeface="Aptos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AE" sz="1050" dirty="0">
                <a:solidFill>
                  <a:srgbClr val="F5F8FC"/>
                </a:solidFill>
                <a:latin typeface="Aptos"/>
              </a:rPr>
              <a:t>S</a:t>
            </a:r>
            <a:r>
              <a:rPr sz="1050" b="0" dirty="0" err="1">
                <a:solidFill>
                  <a:srgbClr val="F5F8FC"/>
                </a:solidFill>
                <a:latin typeface="Aptos"/>
              </a:rPr>
              <a:t>ervicing</a:t>
            </a:r>
            <a:endParaRPr sz="1050" b="0" dirty="0">
              <a:solidFill>
                <a:srgbClr val="F5F8FC"/>
              </a:solidFill>
              <a:latin typeface="Aptos"/>
            </a:endParaRPr>
          </a:p>
        </p:txBody>
      </p:sp>
      <p:cxnSp>
        <p:nvCxnSpPr>
          <p:cNvPr id="56" name="Connector 33">
            <a:extLst>
              <a:ext uri="{FF2B5EF4-FFF2-40B4-BE49-F238E27FC236}">
                <a16:creationId xmlns:a16="http://schemas.microsoft.com/office/drawing/2014/main" id="{09A9A325-716E-51A7-8AE2-50DAE600454D}"/>
              </a:ext>
            </a:extLst>
          </p:cNvPr>
          <p:cNvCxnSpPr/>
          <p:nvPr/>
        </p:nvCxnSpPr>
        <p:spPr>
          <a:xfrm>
            <a:off x="10305288" y="2359235"/>
            <a:ext cx="1444752" cy="0"/>
          </a:xfrm>
          <a:prstGeom prst="line">
            <a:avLst/>
          </a:prstGeom>
          <a:ln w="1016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35">
            <a:extLst>
              <a:ext uri="{FF2B5EF4-FFF2-40B4-BE49-F238E27FC236}">
                <a16:creationId xmlns:a16="http://schemas.microsoft.com/office/drawing/2014/main" id="{84CE1E70-0311-68B5-DB94-95413CC19EF7}"/>
              </a:ext>
            </a:extLst>
          </p:cNvPr>
          <p:cNvCxnSpPr/>
          <p:nvPr/>
        </p:nvCxnSpPr>
        <p:spPr>
          <a:xfrm flipH="1">
            <a:off x="6089904" y="3968496"/>
            <a:ext cx="4937760" cy="630936"/>
          </a:xfrm>
          <a:prstGeom prst="line">
            <a:avLst/>
          </a:prstGeom>
          <a:ln w="1143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36">
            <a:extLst>
              <a:ext uri="{FF2B5EF4-FFF2-40B4-BE49-F238E27FC236}">
                <a16:creationId xmlns:a16="http://schemas.microsoft.com/office/drawing/2014/main" id="{9E1ECB6D-5DA6-ADBD-8B49-055611AB5C47}"/>
              </a:ext>
            </a:extLst>
          </p:cNvPr>
          <p:cNvSpPr/>
          <p:nvPr/>
        </p:nvSpPr>
        <p:spPr>
          <a:xfrm>
            <a:off x="3044952" y="4572000"/>
            <a:ext cx="6089904" cy="969264"/>
          </a:xfrm>
          <a:prstGeom prst="roundRect">
            <a:avLst>
              <a:gd name="adj" fmla="val 12000"/>
            </a:avLst>
          </a:prstGeom>
          <a:solidFill>
            <a:srgbClr val="14314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F6CA0D-CDA0-3594-E9F3-A63F3F8287C8}"/>
              </a:ext>
            </a:extLst>
          </p:cNvPr>
          <p:cNvSpPr txBox="1"/>
          <p:nvPr/>
        </p:nvSpPr>
        <p:spPr>
          <a:xfrm>
            <a:off x="3337560" y="4764024"/>
            <a:ext cx="5504688" cy="1645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60A5FA"/>
                </a:solidFill>
                <a:latin typeface="Aptos"/>
              </a:rPr>
              <a:t>BH EVIDENCE LENS  •  SHARED EVIDENCE BASE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27F1703-5999-E11E-FC9F-9300BC749D3F}"/>
              </a:ext>
            </a:extLst>
          </p:cNvPr>
          <p:cNvSpPr txBox="1"/>
          <p:nvPr/>
        </p:nvSpPr>
        <p:spPr>
          <a:xfrm>
            <a:off x="3364992" y="5047488"/>
            <a:ext cx="5449824" cy="20116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Make every material difference explicit, evidence-backed and visible.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51FDB44-113B-2F28-B439-60AED6909BDD}"/>
              </a:ext>
            </a:extLst>
          </p:cNvPr>
          <p:cNvSpPr txBox="1"/>
          <p:nvPr/>
        </p:nvSpPr>
        <p:spPr>
          <a:xfrm>
            <a:off x="822960" y="5907024"/>
            <a:ext cx="10561320" cy="20116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ptos"/>
              </a:rPr>
              <a:t>THE AIM IS NOT TO MAKE EVERY CONSULTANT THINK THE SAME WAY.  IT IS TO MAKE THE BASIS OF JUDGMENT TRANSPARENT.</a:t>
            </a:r>
          </a:p>
        </p:txBody>
      </p:sp>
      <p:sp>
        <p:nvSpPr>
          <p:cNvPr id="72" name="Text 0">
            <a:extLst>
              <a:ext uri="{FF2B5EF4-FFF2-40B4-BE49-F238E27FC236}">
                <a16:creationId xmlns:a16="http://schemas.microsoft.com/office/drawing/2014/main" id="{006D7F23-5B50-6EB2-4939-A1C0E80019F6}"/>
              </a:ext>
            </a:extLst>
          </p:cNvPr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3D82EE"/>
                </a:solidFill>
              </a:rPr>
              <a:t>03 | THE INSIGHT</a:t>
            </a:r>
            <a:endParaRPr lang="en-US" sz="1000" dirty="0"/>
          </a:p>
        </p:txBody>
      </p:sp>
      <p:sp>
        <p:nvSpPr>
          <p:cNvPr id="2" name="Slide Number Placeholder 0">
            <a:extLst>
              <a:ext uri="{FF2B5EF4-FFF2-40B4-BE49-F238E27FC236}">
                <a16:creationId xmlns:a16="http://schemas.microsoft.com/office/drawing/2014/main" id="{C33CFF6D-55E8-3FFE-36BD-45A453F7C5A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6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742DB-0748-9D22-812A-49FAE5BDF2D5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613382-18B9-5D53-8632-7BC773E82D66}"/>
              </a:ext>
            </a:extLst>
          </p:cNvPr>
          <p:cNvGrpSpPr/>
          <p:nvPr/>
        </p:nvGrpSpPr>
        <p:grpSpPr>
          <a:xfrm>
            <a:off x="1243249" y="1499616"/>
            <a:ext cx="9016487" cy="5312405"/>
            <a:chOff x="1645920" y="1316736"/>
            <a:chExt cx="8281879" cy="4879583"/>
          </a:xfrm>
        </p:grpSpPr>
        <p:pic>
          <p:nvPicPr>
            <p:cNvPr id="3" name="Picture 2" descr="/mnt/data/943f514426.png">
              <a:extLst>
                <a:ext uri="{FF2B5EF4-FFF2-40B4-BE49-F238E27FC236}">
                  <a16:creationId xmlns:a16="http://schemas.microsoft.com/office/drawing/2014/main" id="{2B79CEE5-3940-83DC-AC21-D3E57980F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073" t="16833"/>
            <a:stretch>
              <a:fillRect/>
            </a:stretch>
          </p:blipFill>
          <p:spPr>
            <a:xfrm>
              <a:off x="1867961" y="1389888"/>
              <a:ext cx="8059838" cy="4806431"/>
            </a:xfrm>
            <a:prstGeom prst="rect">
              <a:avLst/>
            </a:prstGeom>
          </p:spPr>
        </p:pic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E29505-BC44-8C27-3AE9-C0AAAA541C46}"/>
                </a:ext>
              </a:extLst>
            </p:cNvPr>
            <p:cNvSpPr/>
            <p:nvPr/>
          </p:nvSpPr>
          <p:spPr>
            <a:xfrm>
              <a:off x="1645920" y="1316736"/>
              <a:ext cx="1395984" cy="2279904"/>
            </a:xfrm>
            <a:custGeom>
              <a:avLst/>
              <a:gdLst>
                <a:gd name="csX0" fmla="*/ 0 w 1395984"/>
                <a:gd name="csY0" fmla="*/ 2279904 h 2279904"/>
                <a:gd name="csX1" fmla="*/ 1024128 w 1395984"/>
                <a:gd name="csY1" fmla="*/ 1365504 h 2279904"/>
                <a:gd name="csX2" fmla="*/ 1395984 w 1395984"/>
                <a:gd name="csY2" fmla="*/ 0 h 2279904"/>
                <a:gd name="csX3" fmla="*/ 115824 w 1395984"/>
                <a:gd name="csY3" fmla="*/ 48768 h 2279904"/>
                <a:gd name="csX4" fmla="*/ 0 w 1395984"/>
                <a:gd name="csY4" fmla="*/ 2279904 h 2279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95984" h="2279904">
                  <a:moveTo>
                    <a:pt x="0" y="2279904"/>
                  </a:moveTo>
                  <a:lnTo>
                    <a:pt x="1024128" y="1365504"/>
                  </a:lnTo>
                  <a:lnTo>
                    <a:pt x="1395984" y="0"/>
                  </a:lnTo>
                  <a:lnTo>
                    <a:pt x="115824" y="48768"/>
                  </a:lnTo>
                  <a:lnTo>
                    <a:pt x="0" y="2279904"/>
                  </a:lnTo>
                  <a:close/>
                </a:path>
              </a:pathLst>
            </a:custGeom>
            <a:solidFill>
              <a:srgbClr val="0711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D9C4E98-E114-CCA0-AB1B-2CD59F25149C}"/>
              </a:ext>
            </a:extLst>
          </p:cNvPr>
          <p:cNvSpPr txBox="1"/>
          <p:nvPr/>
        </p:nvSpPr>
        <p:spPr>
          <a:xfrm>
            <a:off x="384048" y="530352"/>
            <a:ext cx="10972800" cy="901785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n-US" sz="2800" b="1" dirty="0">
                <a:solidFill>
                  <a:srgbClr val="FAFBFD"/>
                </a:solidFill>
              </a:rPr>
              <a:t>Build once. Configure with BH expertise. Use through Teams.</a:t>
            </a:r>
            <a:endParaRPr lang="en-US" sz="2800" dirty="0"/>
          </a:p>
          <a:p>
            <a:pPr algn="l"/>
            <a:endParaRPr sz="27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B736AF-D4BF-4645-4ED0-3460FB3E398F}"/>
              </a:ext>
            </a:extLst>
          </p:cNvPr>
          <p:cNvSpPr txBox="1"/>
          <p:nvPr/>
        </p:nvSpPr>
        <p:spPr>
          <a:xfrm>
            <a:off x="391160" y="1072784"/>
            <a:ext cx="1097280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n-US" sz="1400" dirty="0">
                <a:solidFill>
                  <a:srgbClr val="A9B7C9"/>
                </a:solidFill>
              </a:rPr>
              <a:t>A lightweight Copilot Studio setup turns trusted BH knowledge and repeatable specialist methods into a shared consultant assistant.</a:t>
            </a:r>
            <a:endParaRPr lang="en-US" sz="1400" dirty="0"/>
          </a:p>
        </p:txBody>
      </p:sp>
      <p:cxnSp>
        <p:nvCxnSpPr>
          <p:cNvPr id="9" name="Connector 4">
            <a:extLst>
              <a:ext uri="{FF2B5EF4-FFF2-40B4-BE49-F238E27FC236}">
                <a16:creationId xmlns:a16="http://schemas.microsoft.com/office/drawing/2014/main" id="{058B0F34-1347-878B-FBC1-DE32056593BA}"/>
              </a:ext>
            </a:extLst>
          </p:cNvPr>
          <p:cNvCxnSpPr/>
          <p:nvPr/>
        </p:nvCxnSpPr>
        <p:spPr>
          <a:xfrm>
            <a:off x="384048" y="1499616"/>
            <a:ext cx="11420856" cy="0"/>
          </a:xfrm>
          <a:prstGeom prst="line">
            <a:avLst/>
          </a:prstGeom>
          <a:ln w="10160">
            <a:solidFill>
              <a:srgbClr val="305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 0">
            <a:extLst>
              <a:ext uri="{FF2B5EF4-FFF2-40B4-BE49-F238E27FC236}">
                <a16:creationId xmlns:a16="http://schemas.microsoft.com/office/drawing/2014/main" id="{F80A8DBB-0E5E-7CD6-5686-15E787E3FB87}"/>
              </a:ext>
            </a:extLst>
          </p:cNvPr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20" dirty="0">
                <a:solidFill>
                  <a:srgbClr val="3D82EE"/>
                </a:solidFill>
              </a:rPr>
              <a:t>04 | INTRODUCING THE AGENT</a:t>
            </a:r>
            <a:endParaRPr lang="en-US" sz="100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694698C-238F-336B-A4D0-09D00CE70A03}"/>
              </a:ext>
            </a:extLst>
          </p:cNvPr>
          <p:cNvSpPr/>
          <p:nvPr/>
        </p:nvSpPr>
        <p:spPr>
          <a:xfrm>
            <a:off x="1324050" y="1970876"/>
            <a:ext cx="1350628" cy="4177718"/>
          </a:xfrm>
          <a:custGeom>
            <a:avLst/>
            <a:gdLst>
              <a:gd name="csX0" fmla="*/ 1350628 w 1350628"/>
              <a:gd name="csY0" fmla="*/ 0 h 4177718"/>
              <a:gd name="csX1" fmla="*/ 1124125 w 1350628"/>
              <a:gd name="csY1" fmla="*/ 3884103 h 4177718"/>
              <a:gd name="csX2" fmla="*/ 0 w 1350628"/>
              <a:gd name="csY2" fmla="*/ 4177718 h 4177718"/>
              <a:gd name="csX3" fmla="*/ 109057 w 1350628"/>
              <a:gd name="csY3" fmla="*/ 1702965 h 4177718"/>
              <a:gd name="csX4" fmla="*/ 1350628 w 1350628"/>
              <a:gd name="csY4" fmla="*/ 0 h 41777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50628" h="4177718">
                <a:moveTo>
                  <a:pt x="1350628" y="0"/>
                </a:moveTo>
                <a:lnTo>
                  <a:pt x="1124125" y="3884103"/>
                </a:lnTo>
                <a:lnTo>
                  <a:pt x="0" y="4177718"/>
                </a:lnTo>
                <a:lnTo>
                  <a:pt x="109057" y="1702965"/>
                </a:lnTo>
                <a:lnTo>
                  <a:pt x="1350628" y="0"/>
                </a:lnTo>
                <a:close/>
              </a:path>
            </a:pathLst>
          </a:custGeom>
          <a:solidFill>
            <a:srgbClr val="07111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F9AFCEA-DC9D-A95F-D8B1-1C6192801B50}"/>
              </a:ext>
            </a:extLst>
          </p:cNvPr>
          <p:cNvSpPr/>
          <p:nvPr/>
        </p:nvSpPr>
        <p:spPr>
          <a:xfrm>
            <a:off x="9148166" y="1832909"/>
            <a:ext cx="1249680" cy="4297680"/>
          </a:xfrm>
          <a:custGeom>
            <a:avLst/>
            <a:gdLst>
              <a:gd name="csX0" fmla="*/ 1249680 w 1249680"/>
              <a:gd name="csY0" fmla="*/ 0 h 4297680"/>
              <a:gd name="csX1" fmla="*/ 0 w 1249680"/>
              <a:gd name="csY1" fmla="*/ 36576 h 4297680"/>
              <a:gd name="csX2" fmla="*/ 201168 w 1249680"/>
              <a:gd name="csY2" fmla="*/ 3950208 h 4297680"/>
              <a:gd name="csX3" fmla="*/ 1249680 w 1249680"/>
              <a:gd name="csY3" fmla="*/ 4297680 h 4297680"/>
              <a:gd name="csX4" fmla="*/ 1249680 w 1249680"/>
              <a:gd name="csY4" fmla="*/ 0 h 4297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9680" h="4297680">
                <a:moveTo>
                  <a:pt x="1249680" y="0"/>
                </a:moveTo>
                <a:lnTo>
                  <a:pt x="0" y="36576"/>
                </a:lnTo>
                <a:lnTo>
                  <a:pt x="201168" y="3950208"/>
                </a:lnTo>
                <a:lnTo>
                  <a:pt x="1249680" y="4297680"/>
                </a:lnTo>
                <a:lnTo>
                  <a:pt x="1249680" y="0"/>
                </a:lnTo>
                <a:close/>
              </a:path>
            </a:pathLst>
          </a:custGeom>
          <a:solidFill>
            <a:srgbClr val="07111F"/>
          </a:solidFill>
          <a:ln>
            <a:solidFill>
              <a:srgbClr val="0711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26DCCF67-8449-6112-E532-BA7A42F6E8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1E19C83-4324-B156-745C-B7E27C33DAAD}"/>
              </a:ext>
            </a:extLst>
          </p:cNvPr>
          <p:cNvSpPr/>
          <p:nvPr/>
        </p:nvSpPr>
        <p:spPr>
          <a:xfrm>
            <a:off x="8207492" y="2268575"/>
            <a:ext cx="1135158" cy="210745"/>
          </a:xfrm>
          <a:custGeom>
            <a:avLst/>
            <a:gdLst>
              <a:gd name="csX0" fmla="*/ 0 w 411060"/>
              <a:gd name="csY0" fmla="*/ 813732 h 813732"/>
              <a:gd name="csX1" fmla="*/ 0 w 411060"/>
              <a:gd name="csY1" fmla="*/ 0 h 813732"/>
              <a:gd name="csX2" fmla="*/ 411060 w 411060"/>
              <a:gd name="csY2" fmla="*/ 0 h 813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1060" h="813732">
                <a:moveTo>
                  <a:pt x="0" y="813732"/>
                </a:moveTo>
                <a:lnTo>
                  <a:pt x="0" y="0"/>
                </a:lnTo>
                <a:lnTo>
                  <a:pt x="411060" y="0"/>
                </a:lnTo>
              </a:path>
            </a:pathLst>
          </a:custGeom>
          <a:noFill/>
          <a:ln w="28575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209030-1EEF-C457-98C9-A50F12C231E0}"/>
              </a:ext>
            </a:extLst>
          </p:cNvPr>
          <p:cNvSpPr txBox="1"/>
          <p:nvPr/>
        </p:nvSpPr>
        <p:spPr>
          <a:xfrm>
            <a:off x="9342650" y="2112337"/>
            <a:ext cx="1731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</a:rPr>
              <a:t>Publish on Teams as a chat bot </a:t>
            </a:r>
            <a:endParaRPr lang="en-AE" sz="1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696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D580B-185B-0594-81CE-22B62AA7A8F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AF3397F-814B-21E0-B82B-7784F99BEA31}"/>
              </a:ext>
            </a:extLst>
          </p:cNvPr>
          <p:cNvSpPr/>
          <p:nvPr/>
        </p:nvSpPr>
        <p:spPr>
          <a:xfrm>
            <a:off x="1324050" y="1970876"/>
            <a:ext cx="1350628" cy="4177718"/>
          </a:xfrm>
          <a:custGeom>
            <a:avLst/>
            <a:gdLst>
              <a:gd name="csX0" fmla="*/ 1350628 w 1350628"/>
              <a:gd name="csY0" fmla="*/ 0 h 4177718"/>
              <a:gd name="csX1" fmla="*/ 1124125 w 1350628"/>
              <a:gd name="csY1" fmla="*/ 3884103 h 4177718"/>
              <a:gd name="csX2" fmla="*/ 0 w 1350628"/>
              <a:gd name="csY2" fmla="*/ 4177718 h 4177718"/>
              <a:gd name="csX3" fmla="*/ 109057 w 1350628"/>
              <a:gd name="csY3" fmla="*/ 1702965 h 4177718"/>
              <a:gd name="csX4" fmla="*/ 1350628 w 1350628"/>
              <a:gd name="csY4" fmla="*/ 0 h 41777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50628" h="4177718">
                <a:moveTo>
                  <a:pt x="1350628" y="0"/>
                </a:moveTo>
                <a:lnTo>
                  <a:pt x="1124125" y="3884103"/>
                </a:lnTo>
                <a:lnTo>
                  <a:pt x="0" y="4177718"/>
                </a:lnTo>
                <a:lnTo>
                  <a:pt x="109057" y="1702965"/>
                </a:lnTo>
                <a:lnTo>
                  <a:pt x="1350628" y="0"/>
                </a:lnTo>
                <a:close/>
              </a:path>
            </a:pathLst>
          </a:custGeom>
          <a:solidFill>
            <a:srgbClr val="07111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CAC97A2-2DFC-61C3-B60B-87831B12B988}"/>
              </a:ext>
            </a:extLst>
          </p:cNvPr>
          <p:cNvSpPr/>
          <p:nvPr/>
        </p:nvSpPr>
        <p:spPr>
          <a:xfrm>
            <a:off x="9148166" y="1832909"/>
            <a:ext cx="1249680" cy="4297680"/>
          </a:xfrm>
          <a:custGeom>
            <a:avLst/>
            <a:gdLst>
              <a:gd name="csX0" fmla="*/ 1249680 w 1249680"/>
              <a:gd name="csY0" fmla="*/ 0 h 4297680"/>
              <a:gd name="csX1" fmla="*/ 0 w 1249680"/>
              <a:gd name="csY1" fmla="*/ 36576 h 4297680"/>
              <a:gd name="csX2" fmla="*/ 201168 w 1249680"/>
              <a:gd name="csY2" fmla="*/ 3950208 h 4297680"/>
              <a:gd name="csX3" fmla="*/ 1249680 w 1249680"/>
              <a:gd name="csY3" fmla="*/ 4297680 h 4297680"/>
              <a:gd name="csX4" fmla="*/ 1249680 w 1249680"/>
              <a:gd name="csY4" fmla="*/ 0 h 4297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9680" h="4297680">
                <a:moveTo>
                  <a:pt x="1249680" y="0"/>
                </a:moveTo>
                <a:lnTo>
                  <a:pt x="0" y="36576"/>
                </a:lnTo>
                <a:lnTo>
                  <a:pt x="201168" y="3950208"/>
                </a:lnTo>
                <a:lnTo>
                  <a:pt x="1249680" y="4297680"/>
                </a:lnTo>
                <a:lnTo>
                  <a:pt x="1249680" y="0"/>
                </a:lnTo>
                <a:close/>
              </a:path>
            </a:pathLst>
          </a:custGeom>
          <a:solidFill>
            <a:srgbClr val="07111F"/>
          </a:solidFill>
          <a:ln>
            <a:solidFill>
              <a:srgbClr val="0711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0A4126-C497-3811-64EC-DD12B0F42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1016"/>
            <a:ext cx="12192000" cy="4421582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A90AC3-C99B-9C02-65B4-4CB43C6C73CE}"/>
              </a:ext>
            </a:extLst>
          </p:cNvPr>
          <p:cNvSpPr/>
          <p:nvPr/>
        </p:nvSpPr>
        <p:spPr>
          <a:xfrm flipV="1">
            <a:off x="9718913" y="5504728"/>
            <a:ext cx="411060" cy="310308"/>
          </a:xfrm>
          <a:custGeom>
            <a:avLst/>
            <a:gdLst>
              <a:gd name="csX0" fmla="*/ 0 w 411060"/>
              <a:gd name="csY0" fmla="*/ 813732 h 813732"/>
              <a:gd name="csX1" fmla="*/ 0 w 411060"/>
              <a:gd name="csY1" fmla="*/ 0 h 813732"/>
              <a:gd name="csX2" fmla="*/ 411060 w 411060"/>
              <a:gd name="csY2" fmla="*/ 0 h 813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1060" h="813732">
                <a:moveTo>
                  <a:pt x="0" y="813732"/>
                </a:moveTo>
                <a:lnTo>
                  <a:pt x="0" y="0"/>
                </a:lnTo>
                <a:lnTo>
                  <a:pt x="411060" y="0"/>
                </a:ln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F6A7CB-EC13-E31D-BC71-867674E865F3}"/>
              </a:ext>
            </a:extLst>
          </p:cNvPr>
          <p:cNvSpPr txBox="1"/>
          <p:nvPr/>
        </p:nvSpPr>
        <p:spPr>
          <a:xfrm>
            <a:off x="10103036" y="5680037"/>
            <a:ext cx="1731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Publish on Teams as a chat bot </a:t>
            </a:r>
            <a:endParaRPr lang="en-AE" sz="1400" b="1" dirty="0">
              <a:solidFill>
                <a:srgbClr val="7030A0"/>
              </a:solidFill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092AF093-AD78-D54A-19A6-C0776E4B44C1}"/>
              </a:ext>
            </a:extLst>
          </p:cNvPr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3D82EE"/>
                </a:solidFill>
              </a:rPr>
              <a:t>05 | HOW THE AGENT WORKS</a:t>
            </a:r>
            <a:endParaRPr lang="en-US" sz="1000" dirty="0"/>
          </a:p>
        </p:txBody>
      </p:sp>
      <p:sp>
        <p:nvSpPr>
          <p:cNvPr id="14" name="Slide Number Placeholder 0">
            <a:extLst>
              <a:ext uri="{FF2B5EF4-FFF2-40B4-BE49-F238E27FC236}">
                <a16:creationId xmlns:a16="http://schemas.microsoft.com/office/drawing/2014/main" id="{09D92D40-4D02-07B7-6780-E08EBC0E79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1E70F-FF7A-CDD7-14B1-81533356BE3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02BA667-2D67-0F2D-71C1-5C81EE4422B8}"/>
              </a:ext>
            </a:extLst>
          </p:cNvPr>
          <p:cNvSpPr/>
          <p:nvPr/>
        </p:nvSpPr>
        <p:spPr>
          <a:xfrm>
            <a:off x="1324050" y="1970876"/>
            <a:ext cx="1350628" cy="4177718"/>
          </a:xfrm>
          <a:custGeom>
            <a:avLst/>
            <a:gdLst>
              <a:gd name="csX0" fmla="*/ 1350628 w 1350628"/>
              <a:gd name="csY0" fmla="*/ 0 h 4177718"/>
              <a:gd name="csX1" fmla="*/ 1124125 w 1350628"/>
              <a:gd name="csY1" fmla="*/ 3884103 h 4177718"/>
              <a:gd name="csX2" fmla="*/ 0 w 1350628"/>
              <a:gd name="csY2" fmla="*/ 4177718 h 4177718"/>
              <a:gd name="csX3" fmla="*/ 109057 w 1350628"/>
              <a:gd name="csY3" fmla="*/ 1702965 h 4177718"/>
              <a:gd name="csX4" fmla="*/ 1350628 w 1350628"/>
              <a:gd name="csY4" fmla="*/ 0 h 41777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50628" h="4177718">
                <a:moveTo>
                  <a:pt x="1350628" y="0"/>
                </a:moveTo>
                <a:lnTo>
                  <a:pt x="1124125" y="3884103"/>
                </a:lnTo>
                <a:lnTo>
                  <a:pt x="0" y="4177718"/>
                </a:lnTo>
                <a:lnTo>
                  <a:pt x="109057" y="1702965"/>
                </a:lnTo>
                <a:lnTo>
                  <a:pt x="1350628" y="0"/>
                </a:lnTo>
                <a:close/>
              </a:path>
            </a:pathLst>
          </a:custGeom>
          <a:solidFill>
            <a:srgbClr val="07111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04499A8-6FC7-092C-38A4-0F53AE913490}"/>
              </a:ext>
            </a:extLst>
          </p:cNvPr>
          <p:cNvSpPr/>
          <p:nvPr/>
        </p:nvSpPr>
        <p:spPr>
          <a:xfrm>
            <a:off x="9148166" y="1832909"/>
            <a:ext cx="1249680" cy="4297680"/>
          </a:xfrm>
          <a:custGeom>
            <a:avLst/>
            <a:gdLst>
              <a:gd name="csX0" fmla="*/ 1249680 w 1249680"/>
              <a:gd name="csY0" fmla="*/ 0 h 4297680"/>
              <a:gd name="csX1" fmla="*/ 0 w 1249680"/>
              <a:gd name="csY1" fmla="*/ 36576 h 4297680"/>
              <a:gd name="csX2" fmla="*/ 201168 w 1249680"/>
              <a:gd name="csY2" fmla="*/ 3950208 h 4297680"/>
              <a:gd name="csX3" fmla="*/ 1249680 w 1249680"/>
              <a:gd name="csY3" fmla="*/ 4297680 h 4297680"/>
              <a:gd name="csX4" fmla="*/ 1249680 w 1249680"/>
              <a:gd name="csY4" fmla="*/ 0 h 4297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9680" h="4297680">
                <a:moveTo>
                  <a:pt x="1249680" y="0"/>
                </a:moveTo>
                <a:lnTo>
                  <a:pt x="0" y="36576"/>
                </a:lnTo>
                <a:lnTo>
                  <a:pt x="201168" y="3950208"/>
                </a:lnTo>
                <a:lnTo>
                  <a:pt x="1249680" y="4297680"/>
                </a:lnTo>
                <a:lnTo>
                  <a:pt x="1249680" y="0"/>
                </a:lnTo>
                <a:close/>
              </a:path>
            </a:pathLst>
          </a:custGeom>
          <a:solidFill>
            <a:srgbClr val="07111F"/>
          </a:solidFill>
          <a:ln>
            <a:solidFill>
              <a:srgbClr val="0711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387DBD66-2F48-4053-5006-B81430D3B027}"/>
              </a:ext>
            </a:extLst>
          </p:cNvPr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</a:rPr>
              <a:t>The differentiator is the workflow, not the base model.</a:t>
            </a:r>
            <a:endParaRPr lang="en-US" sz="27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2A39D8CB-E851-242F-058E-633A63A4DB79}"/>
              </a:ext>
            </a:extLst>
          </p:cNvPr>
          <p:cNvSpPr/>
          <p:nvPr/>
        </p:nvSpPr>
        <p:spPr>
          <a:xfrm>
            <a:off x="502920" y="122529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6C9"/>
                </a:solidFill>
              </a:rPr>
              <a:t>The same underlying intelligence can produce very different assumption value when knowledge, controls and validation are configured.</a:t>
            </a:r>
            <a:endParaRPr lang="en-US" sz="115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09B8A9FC-1BA4-B712-09FA-A3C25FDA766E}"/>
              </a:ext>
            </a:extLst>
          </p:cNvPr>
          <p:cNvSpPr/>
          <p:nvPr/>
        </p:nvSpPr>
        <p:spPr>
          <a:xfrm>
            <a:off x="502920" y="1783080"/>
            <a:ext cx="2240280" cy="3886200"/>
          </a:xfrm>
          <a:prstGeom prst="roundRect">
            <a:avLst>
              <a:gd name="adj" fmla="val 3265"/>
            </a:avLst>
          </a:prstGeom>
          <a:solidFill>
            <a:srgbClr val="0D2035">
              <a:alpha val="95000"/>
            </a:srgbClr>
          </a:solidFill>
          <a:ln w="14605">
            <a:solidFill>
              <a:srgbClr val="F05252">
                <a:alpha val="84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73F171BC-67E8-5381-A024-A454FB10F983}"/>
              </a:ext>
            </a:extLst>
          </p:cNvPr>
          <p:cNvSpPr/>
          <p:nvPr/>
        </p:nvSpPr>
        <p:spPr>
          <a:xfrm>
            <a:off x="667512" y="1975104"/>
            <a:ext cx="1911096" cy="283464"/>
          </a:xfrm>
          <a:prstGeom prst="roundRect">
            <a:avLst/>
          </a:prstGeom>
          <a:solidFill>
            <a:srgbClr val="F05252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881EE445-9611-0531-35C8-6D19FB7AF4A2}"/>
              </a:ext>
            </a:extLst>
          </p:cNvPr>
          <p:cNvSpPr/>
          <p:nvPr/>
        </p:nvSpPr>
        <p:spPr>
          <a:xfrm>
            <a:off x="713232" y="2057400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8FAFC"/>
                </a:solidFill>
              </a:rPr>
              <a:t>USER-LED</a:t>
            </a:r>
            <a:endParaRPr lang="en-US" sz="76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1E1338B6-C479-0B71-CD38-2E3EDC4B923C}"/>
              </a:ext>
            </a:extLst>
          </p:cNvPr>
          <p:cNvSpPr/>
          <p:nvPr/>
        </p:nvSpPr>
        <p:spPr>
          <a:xfrm>
            <a:off x="685800" y="24871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GENERAL COPILOT</a:t>
            </a:r>
            <a:endParaRPr lang="en-US" sz="135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950D22FB-5756-DA91-F7D0-48DBD83A9783}"/>
              </a:ext>
            </a:extLst>
          </p:cNvPr>
          <p:cNvSpPr/>
          <p:nvPr/>
        </p:nvSpPr>
        <p:spPr>
          <a:xfrm>
            <a:off x="685800" y="28712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5252"/>
                </a:solidFill>
              </a:rPr>
              <a:t>Flexible conversation</a:t>
            </a:r>
            <a:endParaRPr lang="en-US" sz="950" dirty="0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A8E5280C-DE96-00CE-BD6B-4963D3E612C1}"/>
              </a:ext>
            </a:extLst>
          </p:cNvPr>
          <p:cNvSpPr/>
          <p:nvPr/>
        </p:nvSpPr>
        <p:spPr>
          <a:xfrm>
            <a:off x="758952" y="3374136"/>
            <a:ext cx="146304" cy="146304"/>
          </a:xfrm>
          <a:prstGeom prst="ellipse">
            <a:avLst/>
          </a:prstGeom>
          <a:solidFill>
            <a:srgbClr val="F0525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637CDCDC-47AC-DDB0-8015-6EA1AF85488E}"/>
              </a:ext>
            </a:extLst>
          </p:cNvPr>
          <p:cNvSpPr/>
          <p:nvPr/>
        </p:nvSpPr>
        <p:spPr>
          <a:xfrm>
            <a:off x="1170432" y="33101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Context supplied each time</a:t>
            </a:r>
            <a:endParaRPr lang="en-US" sz="880" dirty="0"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7EBC275B-65FB-A359-CC29-6784AA114A86}"/>
              </a:ext>
            </a:extLst>
          </p:cNvPr>
          <p:cNvSpPr/>
          <p:nvPr/>
        </p:nvSpPr>
        <p:spPr>
          <a:xfrm>
            <a:off x="758952" y="3822192"/>
            <a:ext cx="146304" cy="146304"/>
          </a:xfrm>
          <a:prstGeom prst="ellipse">
            <a:avLst/>
          </a:prstGeom>
          <a:solidFill>
            <a:srgbClr val="F0525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679D7ED2-5D29-8D99-61AD-4F94E06222DD}"/>
              </a:ext>
            </a:extLst>
          </p:cNvPr>
          <p:cNvSpPr/>
          <p:nvPr/>
        </p:nvSpPr>
        <p:spPr>
          <a:xfrm>
            <a:off x="1170432" y="3758184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Web/tools when enabled</a:t>
            </a:r>
            <a:endParaRPr lang="en-US" sz="880" dirty="0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EEF4C264-389D-89CD-7BDE-9272F5EDA854}"/>
              </a:ext>
            </a:extLst>
          </p:cNvPr>
          <p:cNvSpPr/>
          <p:nvPr/>
        </p:nvSpPr>
        <p:spPr>
          <a:xfrm>
            <a:off x="758952" y="4270248"/>
            <a:ext cx="146304" cy="146304"/>
          </a:xfrm>
          <a:prstGeom prst="ellipse">
            <a:avLst/>
          </a:prstGeom>
          <a:solidFill>
            <a:srgbClr val="F0525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A4FE5DB5-8AF8-1F47-B87D-C342987597B2}"/>
              </a:ext>
            </a:extLst>
          </p:cNvPr>
          <p:cNvSpPr/>
          <p:nvPr/>
        </p:nvSpPr>
        <p:spPr>
          <a:xfrm>
            <a:off x="1170432" y="4206240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Sources depend on use</a:t>
            </a:r>
            <a:endParaRPr lang="en-US" sz="880" dirty="0"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84ACF7E5-A557-453F-FA7F-076EDF8009B9}"/>
              </a:ext>
            </a:extLst>
          </p:cNvPr>
          <p:cNvSpPr/>
          <p:nvPr/>
        </p:nvSpPr>
        <p:spPr>
          <a:xfrm>
            <a:off x="758952" y="4718304"/>
            <a:ext cx="146304" cy="146304"/>
          </a:xfrm>
          <a:prstGeom prst="ellipse">
            <a:avLst/>
          </a:prstGeom>
          <a:solidFill>
            <a:srgbClr val="F0525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C692D838-9292-AA54-91C7-221B849F3E71}"/>
              </a:ext>
            </a:extLst>
          </p:cNvPr>
          <p:cNvSpPr/>
          <p:nvPr/>
        </p:nvSpPr>
        <p:spPr>
          <a:xfrm>
            <a:off x="1170432" y="4654296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Scenarios prompted manually</a:t>
            </a:r>
            <a:endParaRPr lang="en-US" sz="880" dirty="0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44E8C817-F66F-B171-E88E-04569A8CDD06}"/>
              </a:ext>
            </a:extLst>
          </p:cNvPr>
          <p:cNvSpPr/>
          <p:nvPr/>
        </p:nvSpPr>
        <p:spPr>
          <a:xfrm>
            <a:off x="758952" y="5166360"/>
            <a:ext cx="146304" cy="146304"/>
          </a:xfrm>
          <a:prstGeom prst="ellipse">
            <a:avLst/>
          </a:prstGeom>
          <a:solidFill>
            <a:srgbClr val="F0525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B96986B2-7FC1-ABCB-2569-4B1A336BA5BB}"/>
              </a:ext>
            </a:extLst>
          </p:cNvPr>
          <p:cNvSpPr/>
          <p:nvPr/>
        </p:nvSpPr>
        <p:spPr>
          <a:xfrm>
            <a:off x="1170432" y="5102352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Repeatability requires setup</a:t>
            </a:r>
            <a:endParaRPr lang="en-US" sz="880" dirty="0"/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D5A4F1BE-5EE9-FEF9-E0E1-B21E710E70EA}"/>
              </a:ext>
            </a:extLst>
          </p:cNvPr>
          <p:cNvSpPr/>
          <p:nvPr/>
        </p:nvSpPr>
        <p:spPr>
          <a:xfrm>
            <a:off x="2880360" y="1783080"/>
            <a:ext cx="2240280" cy="3886200"/>
          </a:xfrm>
          <a:prstGeom prst="roundRect">
            <a:avLst>
              <a:gd name="adj" fmla="val 3265"/>
            </a:avLst>
          </a:prstGeom>
          <a:solidFill>
            <a:srgbClr val="0D2035">
              <a:alpha val="95000"/>
            </a:srgbClr>
          </a:solidFill>
          <a:ln w="14605">
            <a:solidFill>
              <a:srgbClr val="3D82EE">
                <a:alpha val="84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9" name="Shape 20">
            <a:extLst>
              <a:ext uri="{FF2B5EF4-FFF2-40B4-BE49-F238E27FC236}">
                <a16:creationId xmlns:a16="http://schemas.microsoft.com/office/drawing/2014/main" id="{BFD96BBC-0C53-D9C6-BF84-FC1E231A1003}"/>
              </a:ext>
            </a:extLst>
          </p:cNvPr>
          <p:cNvSpPr/>
          <p:nvPr/>
        </p:nvSpPr>
        <p:spPr>
          <a:xfrm>
            <a:off x="3044952" y="1975104"/>
            <a:ext cx="1911096" cy="283464"/>
          </a:xfrm>
          <a:prstGeom prst="roundRect">
            <a:avLst/>
          </a:prstGeom>
          <a:solidFill>
            <a:srgbClr val="3D82EE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F8221434-BD68-EB63-27B7-50E2DFA01B9D}"/>
              </a:ext>
            </a:extLst>
          </p:cNvPr>
          <p:cNvSpPr/>
          <p:nvPr/>
        </p:nvSpPr>
        <p:spPr>
          <a:xfrm>
            <a:off x="3090672" y="2057400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8FAFC"/>
                </a:solidFill>
              </a:rPr>
              <a:t>WORK-GROUNDED</a:t>
            </a:r>
            <a:endParaRPr lang="en-US" sz="760" dirty="0"/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3D2C631E-4BAD-2906-DF2E-05E697BF1872}"/>
              </a:ext>
            </a:extLst>
          </p:cNvPr>
          <p:cNvSpPr/>
          <p:nvPr/>
        </p:nvSpPr>
        <p:spPr>
          <a:xfrm>
            <a:off x="3063240" y="24871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M365 COPILOT</a:t>
            </a:r>
            <a:endParaRPr lang="en-US" sz="1350" dirty="0"/>
          </a:p>
        </p:txBody>
      </p:sp>
      <p:sp>
        <p:nvSpPr>
          <p:cNvPr id="65" name="Text 23">
            <a:extLst>
              <a:ext uri="{FF2B5EF4-FFF2-40B4-BE49-F238E27FC236}">
                <a16:creationId xmlns:a16="http://schemas.microsoft.com/office/drawing/2014/main" id="{5E5E941A-CFB8-618C-5060-4FAE1CF82717}"/>
              </a:ext>
            </a:extLst>
          </p:cNvPr>
          <p:cNvSpPr/>
          <p:nvPr/>
        </p:nvSpPr>
        <p:spPr>
          <a:xfrm>
            <a:off x="3063240" y="28712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82EE"/>
                </a:solidFill>
              </a:rPr>
              <a:t>Work-grounded assistance</a:t>
            </a:r>
            <a:endParaRPr lang="en-US" sz="950" dirty="0"/>
          </a:p>
        </p:txBody>
      </p:sp>
      <p:sp>
        <p:nvSpPr>
          <p:cNvPr id="67" name="Shape 24">
            <a:extLst>
              <a:ext uri="{FF2B5EF4-FFF2-40B4-BE49-F238E27FC236}">
                <a16:creationId xmlns:a16="http://schemas.microsoft.com/office/drawing/2014/main" id="{8E8713F7-B8A5-1978-4AC9-DE3715F9848F}"/>
              </a:ext>
            </a:extLst>
          </p:cNvPr>
          <p:cNvSpPr/>
          <p:nvPr/>
        </p:nvSpPr>
        <p:spPr>
          <a:xfrm>
            <a:off x="3136392" y="3374136"/>
            <a:ext cx="146304" cy="146304"/>
          </a:xfrm>
          <a:prstGeom prst="ellipse">
            <a:avLst/>
          </a:prstGeom>
          <a:solidFill>
            <a:srgbClr val="3D82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B5008E9F-9CCC-5770-9047-D81961138FB6}"/>
              </a:ext>
            </a:extLst>
          </p:cNvPr>
          <p:cNvSpPr/>
          <p:nvPr/>
        </p:nvSpPr>
        <p:spPr>
          <a:xfrm>
            <a:off x="3547872" y="33101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Grounds in accessible M365 data</a:t>
            </a:r>
            <a:endParaRPr lang="en-US" sz="880" dirty="0"/>
          </a:p>
        </p:txBody>
      </p:sp>
      <p:sp>
        <p:nvSpPr>
          <p:cNvPr id="71" name="Shape 26">
            <a:extLst>
              <a:ext uri="{FF2B5EF4-FFF2-40B4-BE49-F238E27FC236}">
                <a16:creationId xmlns:a16="http://schemas.microsoft.com/office/drawing/2014/main" id="{9E5EE10F-2A5E-0384-9447-957EC0C6DA53}"/>
              </a:ext>
            </a:extLst>
          </p:cNvPr>
          <p:cNvSpPr/>
          <p:nvPr/>
        </p:nvSpPr>
        <p:spPr>
          <a:xfrm>
            <a:off x="3136392" y="3822192"/>
            <a:ext cx="146304" cy="146304"/>
          </a:xfrm>
          <a:prstGeom prst="ellipse">
            <a:avLst/>
          </a:prstGeom>
          <a:solidFill>
            <a:srgbClr val="3D82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3" name="Text 27">
            <a:extLst>
              <a:ext uri="{FF2B5EF4-FFF2-40B4-BE49-F238E27FC236}">
                <a16:creationId xmlns:a16="http://schemas.microsoft.com/office/drawing/2014/main" id="{30E2FEB8-86E4-5CC7-19E3-C0A132F6B884}"/>
              </a:ext>
            </a:extLst>
          </p:cNvPr>
          <p:cNvSpPr/>
          <p:nvPr/>
        </p:nvSpPr>
        <p:spPr>
          <a:xfrm>
            <a:off x="3547872" y="3758184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Uses tenant permissions</a:t>
            </a:r>
            <a:endParaRPr lang="en-US" sz="880" dirty="0"/>
          </a:p>
        </p:txBody>
      </p:sp>
      <p:sp>
        <p:nvSpPr>
          <p:cNvPr id="75" name="Shape 28">
            <a:extLst>
              <a:ext uri="{FF2B5EF4-FFF2-40B4-BE49-F238E27FC236}">
                <a16:creationId xmlns:a16="http://schemas.microsoft.com/office/drawing/2014/main" id="{9D2B7BB9-0C72-900D-76D5-E797A01615A7}"/>
              </a:ext>
            </a:extLst>
          </p:cNvPr>
          <p:cNvSpPr/>
          <p:nvPr/>
        </p:nvSpPr>
        <p:spPr>
          <a:xfrm>
            <a:off x="3136392" y="4270248"/>
            <a:ext cx="146304" cy="146304"/>
          </a:xfrm>
          <a:prstGeom prst="ellipse">
            <a:avLst/>
          </a:prstGeom>
          <a:solidFill>
            <a:srgbClr val="3D82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8" name="Text 29">
            <a:extLst>
              <a:ext uri="{FF2B5EF4-FFF2-40B4-BE49-F238E27FC236}">
                <a16:creationId xmlns:a16="http://schemas.microsoft.com/office/drawing/2014/main" id="{B8C2EFA0-6826-8850-29AA-50F62BAD7D97}"/>
              </a:ext>
            </a:extLst>
          </p:cNvPr>
          <p:cNvSpPr/>
          <p:nvPr/>
        </p:nvSpPr>
        <p:spPr>
          <a:xfrm>
            <a:off x="3547872" y="4206240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References implementation varies</a:t>
            </a:r>
            <a:endParaRPr lang="en-US" sz="880" dirty="0"/>
          </a:p>
        </p:txBody>
      </p:sp>
      <p:sp>
        <p:nvSpPr>
          <p:cNvPr id="80" name="Shape 30">
            <a:extLst>
              <a:ext uri="{FF2B5EF4-FFF2-40B4-BE49-F238E27FC236}">
                <a16:creationId xmlns:a16="http://schemas.microsoft.com/office/drawing/2014/main" id="{B5BB9E68-D485-1E7D-1A9C-D1F836171051}"/>
              </a:ext>
            </a:extLst>
          </p:cNvPr>
          <p:cNvSpPr/>
          <p:nvPr/>
        </p:nvSpPr>
        <p:spPr>
          <a:xfrm>
            <a:off x="3136392" y="4718304"/>
            <a:ext cx="146304" cy="146304"/>
          </a:xfrm>
          <a:prstGeom prst="ellipse">
            <a:avLst/>
          </a:prstGeom>
          <a:solidFill>
            <a:srgbClr val="3D82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2" name="Text 31">
            <a:extLst>
              <a:ext uri="{FF2B5EF4-FFF2-40B4-BE49-F238E27FC236}">
                <a16:creationId xmlns:a16="http://schemas.microsoft.com/office/drawing/2014/main" id="{FB65B57C-D2D8-78F1-4818-10591EC3CE37}"/>
              </a:ext>
            </a:extLst>
          </p:cNvPr>
          <p:cNvSpPr/>
          <p:nvPr/>
        </p:nvSpPr>
        <p:spPr>
          <a:xfrm>
            <a:off x="3547872" y="4654296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Can support prompts and workflows</a:t>
            </a:r>
            <a:endParaRPr lang="en-US" sz="880" dirty="0"/>
          </a:p>
        </p:txBody>
      </p:sp>
      <p:sp>
        <p:nvSpPr>
          <p:cNvPr id="84" name="Shape 32">
            <a:extLst>
              <a:ext uri="{FF2B5EF4-FFF2-40B4-BE49-F238E27FC236}">
                <a16:creationId xmlns:a16="http://schemas.microsoft.com/office/drawing/2014/main" id="{B92625D1-D18F-BA8D-F70F-E83170FF068B}"/>
              </a:ext>
            </a:extLst>
          </p:cNvPr>
          <p:cNvSpPr/>
          <p:nvPr/>
        </p:nvSpPr>
        <p:spPr>
          <a:xfrm>
            <a:off x="3136392" y="5166360"/>
            <a:ext cx="146304" cy="146304"/>
          </a:xfrm>
          <a:prstGeom prst="ellipse">
            <a:avLst/>
          </a:prstGeom>
          <a:solidFill>
            <a:srgbClr val="3D82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Text 33">
            <a:extLst>
              <a:ext uri="{FF2B5EF4-FFF2-40B4-BE49-F238E27FC236}">
                <a16:creationId xmlns:a16="http://schemas.microsoft.com/office/drawing/2014/main" id="{0583DA77-24C9-C241-7867-52A91D8D9CCD}"/>
              </a:ext>
            </a:extLst>
          </p:cNvPr>
          <p:cNvSpPr/>
          <p:nvPr/>
        </p:nvSpPr>
        <p:spPr>
          <a:xfrm>
            <a:off x="3547872" y="5102352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Broad productivity experience</a:t>
            </a:r>
            <a:endParaRPr lang="en-US" sz="880" dirty="0"/>
          </a:p>
        </p:txBody>
      </p:sp>
      <p:sp>
        <p:nvSpPr>
          <p:cNvPr id="88" name="Shape 34">
            <a:extLst>
              <a:ext uri="{FF2B5EF4-FFF2-40B4-BE49-F238E27FC236}">
                <a16:creationId xmlns:a16="http://schemas.microsoft.com/office/drawing/2014/main" id="{B82B9296-41C8-37B3-BCE7-859125949021}"/>
              </a:ext>
            </a:extLst>
          </p:cNvPr>
          <p:cNvSpPr/>
          <p:nvPr/>
        </p:nvSpPr>
        <p:spPr>
          <a:xfrm>
            <a:off x="5257800" y="1783080"/>
            <a:ext cx="2240280" cy="3886200"/>
          </a:xfrm>
          <a:prstGeom prst="roundRect">
            <a:avLst>
              <a:gd name="adj" fmla="val 3265"/>
            </a:avLst>
          </a:prstGeom>
          <a:solidFill>
            <a:srgbClr val="0D2035">
              <a:alpha val="95000"/>
            </a:srgbClr>
          </a:solidFill>
          <a:ln w="14605">
            <a:solidFill>
              <a:srgbClr val="8B5CF6">
                <a:alpha val="84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0" name="Shape 35">
            <a:extLst>
              <a:ext uri="{FF2B5EF4-FFF2-40B4-BE49-F238E27FC236}">
                <a16:creationId xmlns:a16="http://schemas.microsoft.com/office/drawing/2014/main" id="{52F8CAEE-1F11-3B0A-7D5E-105408939B7A}"/>
              </a:ext>
            </a:extLst>
          </p:cNvPr>
          <p:cNvSpPr/>
          <p:nvPr/>
        </p:nvSpPr>
        <p:spPr>
          <a:xfrm>
            <a:off x="5422392" y="1975104"/>
            <a:ext cx="1911096" cy="283464"/>
          </a:xfrm>
          <a:prstGeom prst="roundRect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Text 36">
            <a:extLst>
              <a:ext uri="{FF2B5EF4-FFF2-40B4-BE49-F238E27FC236}">
                <a16:creationId xmlns:a16="http://schemas.microsoft.com/office/drawing/2014/main" id="{D612E033-5C64-90FA-A1E7-1E8B768D6383}"/>
              </a:ext>
            </a:extLst>
          </p:cNvPr>
          <p:cNvSpPr/>
          <p:nvPr/>
        </p:nvSpPr>
        <p:spPr>
          <a:xfrm>
            <a:off x="5468112" y="2057400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8FAFC"/>
                </a:solidFill>
              </a:rPr>
              <a:t>TASK-CONFIGURED</a:t>
            </a:r>
            <a:endParaRPr lang="en-US" sz="760" dirty="0"/>
          </a:p>
        </p:txBody>
      </p:sp>
      <p:sp>
        <p:nvSpPr>
          <p:cNvPr id="94" name="Text 37">
            <a:extLst>
              <a:ext uri="{FF2B5EF4-FFF2-40B4-BE49-F238E27FC236}">
                <a16:creationId xmlns:a16="http://schemas.microsoft.com/office/drawing/2014/main" id="{BA0162C1-3CFA-B63C-CAFE-34CDB498641D}"/>
              </a:ext>
            </a:extLst>
          </p:cNvPr>
          <p:cNvSpPr/>
          <p:nvPr/>
        </p:nvSpPr>
        <p:spPr>
          <a:xfrm>
            <a:off x="5440680" y="24871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COPILOT AGENT</a:t>
            </a:r>
            <a:endParaRPr lang="en-US" sz="1350" dirty="0"/>
          </a:p>
        </p:txBody>
      </p:sp>
      <p:sp>
        <p:nvSpPr>
          <p:cNvPr id="96" name="Text 38">
            <a:extLst>
              <a:ext uri="{FF2B5EF4-FFF2-40B4-BE49-F238E27FC236}">
                <a16:creationId xmlns:a16="http://schemas.microsoft.com/office/drawing/2014/main" id="{B3E5607E-159B-E5A4-BA2F-2DA355E5A2E3}"/>
              </a:ext>
            </a:extLst>
          </p:cNvPr>
          <p:cNvSpPr/>
          <p:nvPr/>
        </p:nvSpPr>
        <p:spPr>
          <a:xfrm>
            <a:off x="5440680" y="28712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</a:rPr>
              <a:t>Configured repeatable task</a:t>
            </a:r>
            <a:endParaRPr lang="en-US" sz="950" dirty="0"/>
          </a:p>
        </p:txBody>
      </p:sp>
      <p:sp>
        <p:nvSpPr>
          <p:cNvPr id="98" name="Shape 39">
            <a:extLst>
              <a:ext uri="{FF2B5EF4-FFF2-40B4-BE49-F238E27FC236}">
                <a16:creationId xmlns:a16="http://schemas.microsoft.com/office/drawing/2014/main" id="{A7A4B3AA-97AB-959C-F8FC-FE4933E3C627}"/>
              </a:ext>
            </a:extLst>
          </p:cNvPr>
          <p:cNvSpPr/>
          <p:nvPr/>
        </p:nvSpPr>
        <p:spPr>
          <a:xfrm>
            <a:off x="5513832" y="3374136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Text 40">
            <a:extLst>
              <a:ext uri="{FF2B5EF4-FFF2-40B4-BE49-F238E27FC236}">
                <a16:creationId xmlns:a16="http://schemas.microsoft.com/office/drawing/2014/main" id="{DEC642B7-EA52-4490-52FC-CFA5A97FA64D}"/>
              </a:ext>
            </a:extLst>
          </p:cNvPr>
          <p:cNvSpPr/>
          <p:nvPr/>
        </p:nvSpPr>
        <p:spPr>
          <a:xfrm>
            <a:off x="5925312" y="33101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Selected knowledge sources</a:t>
            </a:r>
            <a:endParaRPr lang="en-US" sz="880" dirty="0"/>
          </a:p>
        </p:txBody>
      </p:sp>
      <p:sp>
        <p:nvSpPr>
          <p:cNvPr id="102" name="Shape 41">
            <a:extLst>
              <a:ext uri="{FF2B5EF4-FFF2-40B4-BE49-F238E27FC236}">
                <a16:creationId xmlns:a16="http://schemas.microsoft.com/office/drawing/2014/main" id="{6346F001-AC37-4F32-DFD9-1111B2D938B8}"/>
              </a:ext>
            </a:extLst>
          </p:cNvPr>
          <p:cNvSpPr/>
          <p:nvPr/>
        </p:nvSpPr>
        <p:spPr>
          <a:xfrm>
            <a:off x="5513832" y="3822192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Text 42">
            <a:extLst>
              <a:ext uri="{FF2B5EF4-FFF2-40B4-BE49-F238E27FC236}">
                <a16:creationId xmlns:a16="http://schemas.microsoft.com/office/drawing/2014/main" id="{82A0284D-665C-DD2A-53BA-04DBFB017F3B}"/>
              </a:ext>
            </a:extLst>
          </p:cNvPr>
          <p:cNvSpPr/>
          <p:nvPr/>
        </p:nvSpPr>
        <p:spPr>
          <a:xfrm>
            <a:off x="5925312" y="3758184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Specific project context</a:t>
            </a:r>
            <a:endParaRPr lang="en-US" sz="880" dirty="0"/>
          </a:p>
        </p:txBody>
      </p:sp>
      <p:sp>
        <p:nvSpPr>
          <p:cNvPr id="106" name="Shape 43">
            <a:extLst>
              <a:ext uri="{FF2B5EF4-FFF2-40B4-BE49-F238E27FC236}">
                <a16:creationId xmlns:a16="http://schemas.microsoft.com/office/drawing/2014/main" id="{7E28BA6A-20DC-6A11-E1CD-5C529484A3DD}"/>
              </a:ext>
            </a:extLst>
          </p:cNvPr>
          <p:cNvSpPr/>
          <p:nvPr/>
        </p:nvSpPr>
        <p:spPr>
          <a:xfrm>
            <a:off x="5513832" y="427024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8" name="Text 44">
            <a:extLst>
              <a:ext uri="{FF2B5EF4-FFF2-40B4-BE49-F238E27FC236}">
                <a16:creationId xmlns:a16="http://schemas.microsoft.com/office/drawing/2014/main" id="{1DC063B3-A8E6-34A5-ABED-11EF12396BE8}"/>
              </a:ext>
            </a:extLst>
          </p:cNvPr>
          <p:cNvSpPr/>
          <p:nvPr/>
        </p:nvSpPr>
        <p:spPr>
          <a:xfrm>
            <a:off x="5925312" y="4206240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Explicit instructions and tools</a:t>
            </a:r>
            <a:endParaRPr lang="en-US" sz="880" dirty="0"/>
          </a:p>
        </p:txBody>
      </p:sp>
      <p:sp>
        <p:nvSpPr>
          <p:cNvPr id="110" name="Shape 45">
            <a:extLst>
              <a:ext uri="{FF2B5EF4-FFF2-40B4-BE49-F238E27FC236}">
                <a16:creationId xmlns:a16="http://schemas.microsoft.com/office/drawing/2014/main" id="{F63A2A36-41B0-E067-F910-5F4C295B322E}"/>
              </a:ext>
            </a:extLst>
          </p:cNvPr>
          <p:cNvSpPr/>
          <p:nvPr/>
        </p:nvSpPr>
        <p:spPr>
          <a:xfrm>
            <a:off x="5513832" y="4718304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2" name="Text 46">
            <a:extLst>
              <a:ext uri="{FF2B5EF4-FFF2-40B4-BE49-F238E27FC236}">
                <a16:creationId xmlns:a16="http://schemas.microsoft.com/office/drawing/2014/main" id="{BBD39F52-762B-BBC4-275B-D105970152B7}"/>
              </a:ext>
            </a:extLst>
          </p:cNvPr>
          <p:cNvSpPr/>
          <p:nvPr/>
        </p:nvSpPr>
        <p:spPr>
          <a:xfrm>
            <a:off x="5925312" y="4654296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Evidence outputs can be designed</a:t>
            </a:r>
            <a:endParaRPr lang="en-US" sz="880" dirty="0"/>
          </a:p>
        </p:txBody>
      </p:sp>
      <p:sp>
        <p:nvSpPr>
          <p:cNvPr id="114" name="Shape 47">
            <a:extLst>
              <a:ext uri="{FF2B5EF4-FFF2-40B4-BE49-F238E27FC236}">
                <a16:creationId xmlns:a16="http://schemas.microsoft.com/office/drawing/2014/main" id="{EE8B5873-83AB-8254-E3D3-1119BBBC812C}"/>
              </a:ext>
            </a:extLst>
          </p:cNvPr>
          <p:cNvSpPr/>
          <p:nvPr/>
        </p:nvSpPr>
        <p:spPr>
          <a:xfrm>
            <a:off x="5513832" y="5166360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6" name="Text 48">
            <a:extLst>
              <a:ext uri="{FF2B5EF4-FFF2-40B4-BE49-F238E27FC236}">
                <a16:creationId xmlns:a16="http://schemas.microsoft.com/office/drawing/2014/main" id="{88E690D4-C4EB-6797-12F6-65B41C6D94CD}"/>
              </a:ext>
            </a:extLst>
          </p:cNvPr>
          <p:cNvSpPr/>
          <p:nvPr/>
        </p:nvSpPr>
        <p:spPr>
          <a:xfrm>
            <a:off x="5925312" y="5102352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7B6C9"/>
                </a:solidFill>
              </a:rPr>
              <a:t>Repeatable process by design</a:t>
            </a:r>
            <a:endParaRPr lang="en-US" sz="880" dirty="0"/>
          </a:p>
        </p:txBody>
      </p:sp>
      <p:sp>
        <p:nvSpPr>
          <p:cNvPr id="118" name="Shape 49">
            <a:extLst>
              <a:ext uri="{FF2B5EF4-FFF2-40B4-BE49-F238E27FC236}">
                <a16:creationId xmlns:a16="http://schemas.microsoft.com/office/drawing/2014/main" id="{87DFA996-20A7-02A5-7A2A-EE5E3F8173C4}"/>
              </a:ext>
            </a:extLst>
          </p:cNvPr>
          <p:cNvSpPr/>
          <p:nvPr/>
        </p:nvSpPr>
        <p:spPr>
          <a:xfrm>
            <a:off x="7772400" y="1783080"/>
            <a:ext cx="3886200" cy="3886200"/>
          </a:xfrm>
          <a:prstGeom prst="roundRect">
            <a:avLst>
              <a:gd name="adj" fmla="val 1882"/>
            </a:avLst>
          </a:prstGeom>
          <a:solidFill>
            <a:srgbClr val="0B2630">
              <a:alpha val="95000"/>
            </a:srgbClr>
          </a:solidFill>
          <a:ln w="14605">
            <a:solidFill>
              <a:srgbClr val="22C55E">
                <a:alpha val="84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0" name="Shape 50">
            <a:extLst>
              <a:ext uri="{FF2B5EF4-FFF2-40B4-BE49-F238E27FC236}">
                <a16:creationId xmlns:a16="http://schemas.microsoft.com/office/drawing/2014/main" id="{1F61F2A4-B2E1-3DEC-FE05-DC1B1CCFA708}"/>
              </a:ext>
            </a:extLst>
          </p:cNvPr>
          <p:cNvSpPr/>
          <p:nvPr/>
        </p:nvSpPr>
        <p:spPr>
          <a:xfrm>
            <a:off x="7936992" y="1975104"/>
            <a:ext cx="3557016" cy="283464"/>
          </a:xfrm>
          <a:prstGeom prst="roundRect">
            <a:avLst/>
          </a:prstGeom>
          <a:solidFill>
            <a:srgbClr val="22C55E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2" name="Text 51">
            <a:extLst>
              <a:ext uri="{FF2B5EF4-FFF2-40B4-BE49-F238E27FC236}">
                <a16:creationId xmlns:a16="http://schemas.microsoft.com/office/drawing/2014/main" id="{AD4987FE-0F37-C1EE-A750-A7C4EE7A60E5}"/>
              </a:ext>
            </a:extLst>
          </p:cNvPr>
          <p:cNvSpPr/>
          <p:nvPr/>
        </p:nvSpPr>
        <p:spPr>
          <a:xfrm>
            <a:off x="7982712" y="2057400"/>
            <a:ext cx="3465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8FAFC"/>
                </a:solidFill>
              </a:rPr>
              <a:t>BH DIFFERENTIATOR</a:t>
            </a:r>
            <a:endParaRPr lang="en-US" sz="760" dirty="0"/>
          </a:p>
        </p:txBody>
      </p:sp>
      <p:sp>
        <p:nvSpPr>
          <p:cNvPr id="124" name="Text 52">
            <a:extLst>
              <a:ext uri="{FF2B5EF4-FFF2-40B4-BE49-F238E27FC236}">
                <a16:creationId xmlns:a16="http://schemas.microsoft.com/office/drawing/2014/main" id="{915278BE-412B-045A-A123-473A3D6B1DF0}"/>
              </a:ext>
            </a:extLst>
          </p:cNvPr>
          <p:cNvSpPr/>
          <p:nvPr/>
        </p:nvSpPr>
        <p:spPr>
          <a:xfrm>
            <a:off x="7955280" y="2487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BH EVIDENCE LENS</a:t>
            </a:r>
            <a:endParaRPr lang="en-US" sz="1600" dirty="0"/>
          </a:p>
        </p:txBody>
      </p:sp>
      <p:sp>
        <p:nvSpPr>
          <p:cNvPr id="126" name="Text 53">
            <a:extLst>
              <a:ext uri="{FF2B5EF4-FFF2-40B4-BE49-F238E27FC236}">
                <a16:creationId xmlns:a16="http://schemas.microsoft.com/office/drawing/2014/main" id="{380168F9-245C-CCA1-C421-DEFD3B7EE895}"/>
              </a:ext>
            </a:extLst>
          </p:cNvPr>
          <p:cNvSpPr/>
          <p:nvPr/>
        </p:nvSpPr>
        <p:spPr>
          <a:xfrm>
            <a:off x="7955280" y="28712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</a:rPr>
              <a:t>Purpose-built decision workflow</a:t>
            </a:r>
            <a:endParaRPr lang="en-US" sz="950" dirty="0"/>
          </a:p>
        </p:txBody>
      </p:sp>
      <p:sp>
        <p:nvSpPr>
          <p:cNvPr id="128" name="Shape 54">
            <a:extLst>
              <a:ext uri="{FF2B5EF4-FFF2-40B4-BE49-F238E27FC236}">
                <a16:creationId xmlns:a16="http://schemas.microsoft.com/office/drawing/2014/main" id="{EA7D0950-CA2A-3433-4B64-4194B92DD228}"/>
              </a:ext>
            </a:extLst>
          </p:cNvPr>
          <p:cNvSpPr/>
          <p:nvPr/>
        </p:nvSpPr>
        <p:spPr>
          <a:xfrm>
            <a:off x="8028432" y="3374136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0" name="Text 55">
            <a:extLst>
              <a:ext uri="{FF2B5EF4-FFF2-40B4-BE49-F238E27FC236}">
                <a16:creationId xmlns:a16="http://schemas.microsoft.com/office/drawing/2014/main" id="{7D01B1E7-CE48-DDD5-48DE-8128018FA1E6}"/>
              </a:ext>
            </a:extLst>
          </p:cNvPr>
          <p:cNvSpPr/>
          <p:nvPr/>
        </p:nvSpPr>
        <p:spPr>
          <a:xfrm>
            <a:off x="8439912" y="331012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8FAFC"/>
                </a:solidFill>
              </a:rPr>
              <a:t>Approved BH sources + access controls</a:t>
            </a:r>
            <a:endParaRPr lang="en-US" sz="920" dirty="0"/>
          </a:p>
        </p:txBody>
      </p:sp>
      <p:sp>
        <p:nvSpPr>
          <p:cNvPr id="132" name="Shape 56">
            <a:extLst>
              <a:ext uri="{FF2B5EF4-FFF2-40B4-BE49-F238E27FC236}">
                <a16:creationId xmlns:a16="http://schemas.microsoft.com/office/drawing/2014/main" id="{63DCE52B-A434-197D-385D-A0330DA90BFD}"/>
              </a:ext>
            </a:extLst>
          </p:cNvPr>
          <p:cNvSpPr/>
          <p:nvPr/>
        </p:nvSpPr>
        <p:spPr>
          <a:xfrm>
            <a:off x="8028432" y="376732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4" name="Text 57">
            <a:extLst>
              <a:ext uri="{FF2B5EF4-FFF2-40B4-BE49-F238E27FC236}">
                <a16:creationId xmlns:a16="http://schemas.microsoft.com/office/drawing/2014/main" id="{429D6A57-1678-CB94-BF38-A006B486A85E}"/>
              </a:ext>
            </a:extLst>
          </p:cNvPr>
          <p:cNvSpPr/>
          <p:nvPr/>
        </p:nvSpPr>
        <p:spPr>
          <a:xfrm>
            <a:off x="8439912" y="370332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8FAFC"/>
                </a:solidFill>
              </a:rPr>
              <a:t>Reusable retrieval layer + project taxonomy</a:t>
            </a:r>
            <a:endParaRPr lang="en-US" sz="920" dirty="0"/>
          </a:p>
        </p:txBody>
      </p:sp>
      <p:sp>
        <p:nvSpPr>
          <p:cNvPr id="136" name="Shape 58">
            <a:extLst>
              <a:ext uri="{FF2B5EF4-FFF2-40B4-BE49-F238E27FC236}">
                <a16:creationId xmlns:a16="http://schemas.microsoft.com/office/drawing/2014/main" id="{3FCDBE52-7184-CD4E-1F6D-69851C747A79}"/>
              </a:ext>
            </a:extLst>
          </p:cNvPr>
          <p:cNvSpPr/>
          <p:nvPr/>
        </p:nvSpPr>
        <p:spPr>
          <a:xfrm>
            <a:off x="8028432" y="416052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8" name="Text 59">
            <a:extLst>
              <a:ext uri="{FF2B5EF4-FFF2-40B4-BE49-F238E27FC236}">
                <a16:creationId xmlns:a16="http://schemas.microsoft.com/office/drawing/2014/main" id="{106D7B7F-2DC3-DEDF-41B9-6986B6495914}"/>
              </a:ext>
            </a:extLst>
          </p:cNvPr>
          <p:cNvSpPr/>
          <p:nvPr/>
        </p:nvSpPr>
        <p:spPr>
          <a:xfrm>
            <a:off x="8439912" y="4096512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8FAFC"/>
                </a:solidFill>
              </a:rPr>
              <a:t>External research as a governed step</a:t>
            </a:r>
            <a:endParaRPr lang="en-US" sz="920" dirty="0"/>
          </a:p>
        </p:txBody>
      </p:sp>
      <p:sp>
        <p:nvSpPr>
          <p:cNvPr id="140" name="Shape 60">
            <a:extLst>
              <a:ext uri="{FF2B5EF4-FFF2-40B4-BE49-F238E27FC236}">
                <a16:creationId xmlns:a16="http://schemas.microsoft.com/office/drawing/2014/main" id="{13A9B5E1-2F4A-06BE-90A7-C11C9650F999}"/>
              </a:ext>
            </a:extLst>
          </p:cNvPr>
          <p:cNvSpPr/>
          <p:nvPr/>
        </p:nvSpPr>
        <p:spPr>
          <a:xfrm>
            <a:off x="8028432" y="4553712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2" name="Text 61">
            <a:extLst>
              <a:ext uri="{FF2B5EF4-FFF2-40B4-BE49-F238E27FC236}">
                <a16:creationId xmlns:a16="http://schemas.microsoft.com/office/drawing/2014/main" id="{8D56B672-0C4E-C1F2-2B3E-C84E3FA96BE0}"/>
              </a:ext>
            </a:extLst>
          </p:cNvPr>
          <p:cNvSpPr/>
          <p:nvPr/>
        </p:nvSpPr>
        <p:spPr>
          <a:xfrm>
            <a:off x="8439912" y="4489704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8FAFC"/>
                </a:solidFill>
              </a:rPr>
              <a:t>Source + date + assumption required</a:t>
            </a:r>
            <a:endParaRPr lang="en-US" sz="920" dirty="0"/>
          </a:p>
        </p:txBody>
      </p:sp>
      <p:sp>
        <p:nvSpPr>
          <p:cNvPr id="144" name="Shape 62">
            <a:extLst>
              <a:ext uri="{FF2B5EF4-FFF2-40B4-BE49-F238E27FC236}">
                <a16:creationId xmlns:a16="http://schemas.microsoft.com/office/drawing/2014/main" id="{5970C1F9-D95E-D71D-FD23-0E23DA6ED956}"/>
              </a:ext>
            </a:extLst>
          </p:cNvPr>
          <p:cNvSpPr/>
          <p:nvPr/>
        </p:nvSpPr>
        <p:spPr>
          <a:xfrm>
            <a:off x="8028432" y="4946904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6" name="Text 63">
            <a:extLst>
              <a:ext uri="{FF2B5EF4-FFF2-40B4-BE49-F238E27FC236}">
                <a16:creationId xmlns:a16="http://schemas.microsoft.com/office/drawing/2014/main" id="{6B4C9A0D-ADC7-DE6E-585D-6247539A5B7A}"/>
              </a:ext>
            </a:extLst>
          </p:cNvPr>
          <p:cNvSpPr/>
          <p:nvPr/>
        </p:nvSpPr>
        <p:spPr>
          <a:xfrm>
            <a:off x="8439912" y="4882896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8FAFC"/>
                </a:solidFill>
              </a:rPr>
              <a:t>Standard drivers + sensitivity ranges</a:t>
            </a:r>
            <a:endParaRPr lang="en-US" sz="920" dirty="0"/>
          </a:p>
        </p:txBody>
      </p:sp>
      <p:sp>
        <p:nvSpPr>
          <p:cNvPr id="148" name="Shape 64">
            <a:extLst>
              <a:ext uri="{FF2B5EF4-FFF2-40B4-BE49-F238E27FC236}">
                <a16:creationId xmlns:a16="http://schemas.microsoft.com/office/drawing/2014/main" id="{60ABADEC-B453-8671-C38E-6E5AE841A35D}"/>
              </a:ext>
            </a:extLst>
          </p:cNvPr>
          <p:cNvSpPr/>
          <p:nvPr/>
        </p:nvSpPr>
        <p:spPr>
          <a:xfrm>
            <a:off x="8028432" y="5340096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0" name="Text 65">
            <a:extLst>
              <a:ext uri="{FF2B5EF4-FFF2-40B4-BE49-F238E27FC236}">
                <a16:creationId xmlns:a16="http://schemas.microsoft.com/office/drawing/2014/main" id="{8FFBEDC2-C6D8-A0DA-2E63-C5206FC08D36}"/>
              </a:ext>
            </a:extLst>
          </p:cNvPr>
          <p:cNvSpPr/>
          <p:nvPr/>
        </p:nvSpPr>
        <p:spPr>
          <a:xfrm>
            <a:off x="8439912" y="527608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8FAFC"/>
                </a:solidFill>
              </a:rPr>
              <a:t>Fixed workflow + validation gates</a:t>
            </a:r>
            <a:endParaRPr lang="en-US" sz="920" dirty="0"/>
          </a:p>
        </p:txBody>
      </p:sp>
      <p:sp>
        <p:nvSpPr>
          <p:cNvPr id="152" name="Shape 66">
            <a:extLst>
              <a:ext uri="{FF2B5EF4-FFF2-40B4-BE49-F238E27FC236}">
                <a16:creationId xmlns:a16="http://schemas.microsoft.com/office/drawing/2014/main" id="{4C52C913-18B3-6552-FFEA-B054E95A124B}"/>
              </a:ext>
            </a:extLst>
          </p:cNvPr>
          <p:cNvSpPr/>
          <p:nvPr/>
        </p:nvSpPr>
        <p:spPr>
          <a:xfrm>
            <a:off x="7607808" y="1938528"/>
            <a:ext cx="1" cy="3566160"/>
          </a:xfrm>
          <a:prstGeom prst="line">
            <a:avLst/>
          </a:prstGeom>
          <a:noFill/>
          <a:ln w="25400">
            <a:solidFill>
              <a:srgbClr val="22C55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4" name="Shape 67">
            <a:extLst>
              <a:ext uri="{FF2B5EF4-FFF2-40B4-BE49-F238E27FC236}">
                <a16:creationId xmlns:a16="http://schemas.microsoft.com/office/drawing/2014/main" id="{4C02E010-E24D-0B1C-6516-6887FAE7BA33}"/>
              </a:ext>
            </a:extLst>
          </p:cNvPr>
          <p:cNvSpPr/>
          <p:nvPr/>
        </p:nvSpPr>
        <p:spPr>
          <a:xfrm>
            <a:off x="987552" y="5897880"/>
            <a:ext cx="10222992" cy="502920"/>
          </a:xfrm>
          <a:prstGeom prst="roundRect">
            <a:avLst/>
          </a:prstGeom>
          <a:solidFill>
            <a:srgbClr val="122B48"/>
          </a:solidFill>
          <a:ln w="14605">
            <a:solidFill>
              <a:srgbClr val="3D82E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6" name="Text 68">
            <a:extLst>
              <a:ext uri="{FF2B5EF4-FFF2-40B4-BE49-F238E27FC236}">
                <a16:creationId xmlns:a16="http://schemas.microsoft.com/office/drawing/2014/main" id="{1EC9CE35-096C-0441-7352-7B474B16F8EF}"/>
              </a:ext>
            </a:extLst>
          </p:cNvPr>
          <p:cNvSpPr/>
          <p:nvPr/>
        </p:nvSpPr>
        <p:spPr>
          <a:xfrm>
            <a:off x="1234440" y="6071616"/>
            <a:ext cx="9738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BH DIFFERENCE  =  INTERNAL PRECEDENT  +  EXTERNAL EVIDENCE  +  SCENARIO LOGIC  +  VALIDATION GATES</a:t>
            </a:r>
            <a:endParaRPr lang="en-US" sz="1250" dirty="0"/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B4287C07-E5CB-8479-FDA5-3F4AF4B1EA4A}"/>
              </a:ext>
            </a:extLst>
          </p:cNvPr>
          <p:cNvSpPr/>
          <p:nvPr/>
        </p:nvSpPr>
        <p:spPr>
          <a:xfrm>
            <a:off x="5193792" y="1707159"/>
            <a:ext cx="6594250" cy="4053561"/>
          </a:xfrm>
          <a:prstGeom prst="roundRect">
            <a:avLst>
              <a:gd name="adj" fmla="val 1805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3" name="Text 0">
            <a:extLst>
              <a:ext uri="{FF2B5EF4-FFF2-40B4-BE49-F238E27FC236}">
                <a16:creationId xmlns:a16="http://schemas.microsoft.com/office/drawing/2014/main" id="{2B900812-AA14-734E-5F82-D0E1DE555250}"/>
              </a:ext>
            </a:extLst>
          </p:cNvPr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20" dirty="0">
                <a:solidFill>
                  <a:srgbClr val="3D82EE"/>
                </a:solidFill>
              </a:rPr>
              <a:t>06 | </a:t>
            </a:r>
            <a:r>
              <a:rPr lang="en-US" sz="1000" b="1" kern="0" spc="130" dirty="0">
                <a:solidFill>
                  <a:srgbClr val="3D82EE"/>
                </a:solidFill>
              </a:rPr>
              <a:t>AGENT VS. GENERAL AI</a:t>
            </a:r>
            <a:endParaRPr lang="en-US" sz="1000" dirty="0"/>
          </a:p>
        </p:txBody>
      </p:sp>
      <p:sp>
        <p:nvSpPr>
          <p:cNvPr id="164" name="Slide Number Placeholder 0">
            <a:extLst>
              <a:ext uri="{FF2B5EF4-FFF2-40B4-BE49-F238E27FC236}">
                <a16:creationId xmlns:a16="http://schemas.microsoft.com/office/drawing/2014/main" id="{63FA4497-3BC9-7E51-B20E-9CC0BB4BBF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95760" y="644652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18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b014820ed9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2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020812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NoRA: from a target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to a defensible decision.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02920" y="18745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6C9"/>
                </a:solidFill>
              </a:rPr>
              <a:t>The agent does not invent the target. It reconstructs the evidence path and tests what must be true.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779776"/>
            <a:ext cx="3611880" cy="301752"/>
          </a:xfrm>
          <a:prstGeom prst="roundRect">
            <a:avLst/>
          </a:prstGeom>
          <a:solidFill>
            <a:srgbClr val="3D82EE">
              <a:alpha val="9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6"/>
          <p:cNvSpPr/>
          <p:nvPr/>
        </p:nvSpPr>
        <p:spPr>
          <a:xfrm>
            <a:off x="548640" y="2871216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C"/>
                </a:solidFill>
              </a:rPr>
              <a:t>REAL INPUT  •  NoRA MOBILITY STRATEGY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4360" y="33101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</a:rPr>
              <a:t>40%+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645920" y="34015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A7B6C9"/>
                </a:solidFill>
              </a:rPr>
              <a:t>PUBLIC TRANSPORT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594360" y="3931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</a:rPr>
              <a:t>50%+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645920" y="40233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A7B6C9"/>
                </a:solidFill>
              </a:rPr>
              <a:t>SUSTAINABLE INTERNAL TRIPS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594360" y="45537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</a:rPr>
              <a:t>70%+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645920" y="46451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A7B6C9"/>
                </a:solidFill>
              </a:rPr>
              <a:t>TRIPS INTERNALISED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566928" y="53218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STATUS  •  PROJECT KPIs. IMPLICATIONS STILL REQUIRE TESTING.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0" y="1627632"/>
            <a:ext cx="6720840" cy="4315968"/>
          </a:xfrm>
          <a:prstGeom prst="roundRect">
            <a:avLst>
              <a:gd name="adj" fmla="val 1695"/>
            </a:avLst>
          </a:prstGeom>
          <a:solidFill>
            <a:srgbClr val="081B2C">
              <a:alpha val="94000"/>
            </a:srgbClr>
          </a:solidFill>
          <a:ln w="14605">
            <a:solidFill>
              <a:srgbClr val="22C55E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Text 15"/>
          <p:cNvSpPr/>
          <p:nvPr/>
        </p:nvSpPr>
        <p:spPr>
          <a:xfrm>
            <a:off x="5285232" y="1920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WHAT THE EVIDENCE LENS DID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303520" y="2395728"/>
            <a:ext cx="384048" cy="384048"/>
          </a:xfrm>
          <a:prstGeom prst="ellipse">
            <a:avLst/>
          </a:prstGeom>
          <a:solidFill>
            <a:srgbClr val="3D82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7"/>
          <p:cNvSpPr/>
          <p:nvPr/>
        </p:nvSpPr>
        <p:spPr>
          <a:xfrm>
            <a:off x="5303520" y="25054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</a:rPr>
              <a:t>01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870448" y="24140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82EE"/>
                </a:solidFill>
              </a:rPr>
              <a:t>RETRIEVED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903720" y="23957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150 cities → 11 relevant comparators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95544" y="2779776"/>
            <a:ext cx="1" cy="228600"/>
          </a:xfrm>
          <a:prstGeom prst="line">
            <a:avLst/>
          </a:prstGeom>
          <a:noFill/>
          <a:ln w="19050">
            <a:solidFill>
              <a:srgbClr val="3D82E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Shape 21"/>
          <p:cNvSpPr/>
          <p:nvPr/>
        </p:nvSpPr>
        <p:spPr>
          <a:xfrm>
            <a:off x="5303520" y="3017520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2"/>
          <p:cNvSpPr/>
          <p:nvPr/>
        </p:nvSpPr>
        <p:spPr>
          <a:xfrm>
            <a:off x="5303520" y="312724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</a:rPr>
              <a:t>02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870448" y="3035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</a:rPr>
              <a:t>SEPARATED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903720" y="30175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External PT share vs internal sustainable share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95544" y="3401568"/>
            <a:ext cx="1" cy="228600"/>
          </a:xfrm>
          <a:prstGeom prst="lin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Shape 26"/>
          <p:cNvSpPr/>
          <p:nvPr/>
        </p:nvSpPr>
        <p:spPr>
          <a:xfrm>
            <a:off x="5303520" y="363931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7"/>
          <p:cNvSpPr/>
          <p:nvPr/>
        </p:nvSpPr>
        <p:spPr>
          <a:xfrm>
            <a:off x="5303520" y="374904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</a:rPr>
              <a:t>03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870448" y="36576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</a:rPr>
              <a:t>TESTED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903720" y="363931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Transit supply, density, access, parking and phasing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95544" y="4023360"/>
            <a:ext cx="1" cy="228600"/>
          </a:xfrm>
          <a:prstGeom prst="line">
            <a:avLst/>
          </a:prstGeom>
          <a:noFill/>
          <a:ln w="19050">
            <a:solidFill>
              <a:srgbClr val="8B5CF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Shape 31"/>
          <p:cNvSpPr/>
          <p:nvPr/>
        </p:nvSpPr>
        <p:spPr>
          <a:xfrm>
            <a:off x="5303520" y="426110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2"/>
          <p:cNvSpPr/>
          <p:nvPr/>
        </p:nvSpPr>
        <p:spPr>
          <a:xfrm>
            <a:off x="5303520" y="4370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</a:rPr>
              <a:t>04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870448" y="42793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EXPOSED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903720" y="42611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What is approved, modelled and still missing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495544" y="4645152"/>
            <a:ext cx="1" cy="228600"/>
          </a:xfrm>
          <a:prstGeom prst="line">
            <a:avLst/>
          </a:prstGeom>
          <a:noFill/>
          <a:ln w="190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Shape 36"/>
          <p:cNvSpPr/>
          <p:nvPr/>
        </p:nvSpPr>
        <p:spPr>
          <a:xfrm>
            <a:off x="5303520" y="488289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Text 37"/>
          <p:cNvSpPr/>
          <p:nvPr/>
        </p:nvSpPr>
        <p:spPr>
          <a:xfrm>
            <a:off x="5303520" y="49926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</a:rPr>
              <a:t>05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5870448" y="4901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PACKAGED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903720" y="48828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Range + sensitivity + source trail + review gate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321808" y="5504688"/>
            <a:ext cx="5943600" cy="502920"/>
          </a:xfrm>
          <a:prstGeom prst="round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Text 41"/>
          <p:cNvSpPr/>
          <p:nvPr/>
        </p:nvSpPr>
        <p:spPr>
          <a:xfrm>
            <a:off x="5532120" y="5669280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8FAFC"/>
                </a:solidFill>
              </a:rPr>
              <a:t>RESULT  •  Not a “magic number” - an auditable path from ambition to investment conditions.</a:t>
            </a:r>
            <a:endParaRPr lang="en-US" sz="1120" dirty="0"/>
          </a:p>
        </p:txBody>
      </p:sp>
      <p:sp>
        <p:nvSpPr>
          <p:cNvPr id="48" name="Text 0">
            <a:extLst>
              <a:ext uri="{FF2B5EF4-FFF2-40B4-BE49-F238E27FC236}">
                <a16:creationId xmlns:a16="http://schemas.microsoft.com/office/drawing/2014/main" id="{51C2299E-5932-BB08-9D9A-EF33E653B42B}"/>
              </a:ext>
            </a:extLst>
          </p:cNvPr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20" dirty="0">
                <a:solidFill>
                  <a:srgbClr val="3D82EE"/>
                </a:solidFill>
              </a:rPr>
              <a:t>07 | </a:t>
            </a:r>
            <a:r>
              <a:rPr lang="en-US" sz="1000" b="1" kern="0" spc="130" dirty="0">
                <a:solidFill>
                  <a:srgbClr val="3D82EE"/>
                </a:solidFill>
              </a:rPr>
              <a:t>REAL PROJECT VALIDATION</a:t>
            </a:r>
            <a:endParaRPr lang="en-US" sz="1000" dirty="0"/>
          </a:p>
        </p:txBody>
      </p:sp>
      <p:sp>
        <p:nvSpPr>
          <p:cNvPr id="50" name="Shape 0">
            <a:extLst>
              <a:ext uri="{FF2B5EF4-FFF2-40B4-BE49-F238E27FC236}">
                <a16:creationId xmlns:a16="http://schemas.microsoft.com/office/drawing/2014/main" id="{DD8F144E-94B4-33FF-39F2-8B0FFBCBCB20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D82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Slide Number Placeholder 0">
            <a:extLst>
              <a:ext uri="{FF2B5EF4-FFF2-40B4-BE49-F238E27FC236}">
                <a16:creationId xmlns:a16="http://schemas.microsoft.com/office/drawing/2014/main" id="{B4E40FA0-660F-6F57-7B84-DEA11D896D64}"/>
              </a:ext>
            </a:extLst>
          </p:cNvPr>
          <p:cNvSpPr txBox="1">
            <a:spLocks/>
          </p:cNvSpPr>
          <p:nvPr/>
        </p:nvSpPr>
        <p:spPr>
          <a:xfrm>
            <a:off x="11795760" y="644652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1809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60" name="Shape 1">
            <a:extLst>
              <a:ext uri="{FF2B5EF4-FFF2-40B4-BE49-F238E27FC236}">
                <a16:creationId xmlns:a16="http://schemas.microsoft.com/office/drawing/2014/main" id="{1E41F218-E246-0B9D-09AC-FFD8AF8353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812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D82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Where the saving comes from: reuse the evidence, not the effort.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6C9"/>
                </a:solidFill>
              </a:rPr>
              <a:t>A transparent value model. Project facts are grounded; time and rate inputs below are editable pilot assumptions.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3246120" cy="4224528"/>
          </a:xfrm>
          <a:prstGeom prst="roundRect">
            <a:avLst>
              <a:gd name="adj" fmla="val 2254"/>
            </a:avLst>
          </a:prstGeom>
          <a:solidFill>
            <a:srgbClr val="0D2035">
              <a:alpha val="94000"/>
            </a:srgbClr>
          </a:solidFill>
          <a:ln w="14605">
            <a:solidFill>
              <a:srgbClr val="F05252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5252"/>
                </a:solidFill>
              </a:rPr>
              <a:t>WITHOUT THE LENS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25603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5252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8720" y="25603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SEARCH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20240" y="25420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7B6C9"/>
                </a:solidFill>
              </a:rPr>
              <a:t>Find the right decks and versions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795528" y="312724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5252"/>
                </a:solidFill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312724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EXTRACT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31089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7B6C9"/>
                </a:solidFill>
              </a:rPr>
              <a:t>Pull benchmarks and targets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795528" y="369417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5252"/>
                </a:solidFill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88720" y="36941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RECONCILE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0240" y="3675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7B6C9"/>
                </a:solidFill>
              </a:rPr>
              <a:t>Resolve conflicting assumptions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95528" y="42611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5252"/>
                </a:solidFill>
              </a:rPr>
              <a:t>04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88720" y="426110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REBUILD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424281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7B6C9"/>
                </a:solidFill>
              </a:rPr>
              <a:t>Repeat charts and narrative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95528" y="482803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5252"/>
                </a:solidFill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88720" y="482803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CHECK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480974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7B6C9"/>
                </a:solidFill>
              </a:rPr>
              <a:t>Create source trail at the end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3986784" y="1664208"/>
            <a:ext cx="3246120" cy="4224528"/>
          </a:xfrm>
          <a:prstGeom prst="roundRect">
            <a:avLst>
              <a:gd name="adj" fmla="val 2254"/>
            </a:avLst>
          </a:prstGeom>
          <a:solidFill>
            <a:srgbClr val="0D2035">
              <a:alpha val="94000"/>
            </a:srgbClr>
          </a:solidFill>
          <a:ln w="14605">
            <a:solidFill>
              <a:srgbClr val="22C55E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4297680" y="19659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WITH THE LENS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0" y="25603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45152" y="256032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REUSE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04688" y="2542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7B6C9"/>
                </a:solidFill>
              </a:rPr>
              <a:t>Approved retrieval layer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297680" y="312724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45152" y="31272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FILTER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04688" y="31089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7B6C9"/>
                </a:solidFill>
              </a:rPr>
              <a:t>Comparator taxonomy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297680" y="369417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45152" y="36941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CALCULATE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0468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7B6C9"/>
                </a:solidFill>
              </a:rPr>
              <a:t>Scenario driver template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4297680" y="42611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45152" y="42611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TRACE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04688" y="42428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7B6C9"/>
                </a:solidFill>
              </a:rPr>
              <a:t>Source + date + assumption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4297680" y="482803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45152" y="482803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REVIEW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04688" y="48097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7B6C9"/>
                </a:solidFill>
              </a:rPr>
              <a:t>Consultant approval gate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498080" y="1664208"/>
            <a:ext cx="4160520" cy="4224528"/>
          </a:xfrm>
          <a:prstGeom prst="roundRect">
            <a:avLst>
              <a:gd name="adj" fmla="val 1758"/>
            </a:avLst>
          </a:prstGeom>
          <a:solidFill>
            <a:srgbClr val="0A2036">
              <a:alpha val="94000"/>
            </a:srgbClr>
          </a:solidFill>
          <a:ln w="14605">
            <a:solidFill>
              <a:srgbClr val="3D82EE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7845552" y="196596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82EE"/>
                </a:solidFill>
              </a:rPr>
              <a:t>EDITABLE PILOT VALUE MODEL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909560" y="24688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3D82EE"/>
                </a:solidFill>
              </a:rPr>
              <a:t>100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9070848" y="25420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</a:rPr>
              <a:t>similar evidence questions / year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909560" y="30906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22C55E"/>
                </a:solidFill>
              </a:rPr>
              <a:t>6 h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9070848" y="316382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</a:rPr>
              <a:t>illustrative net saving / question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909560" y="37124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59E0B"/>
                </a:solidFill>
              </a:rPr>
              <a:t>600 h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9070848" y="378561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</a:rPr>
              <a:t>consulting capacity released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909560" y="43342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8B5CF6"/>
                </a:solidFill>
              </a:rPr>
              <a:t>× rate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9070848" y="44074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</a:rPr>
              <a:t>apply BH loaded hourly rate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955280" y="5074920"/>
            <a:ext cx="3246120" cy="1"/>
          </a:xfrm>
          <a:prstGeom prst="line">
            <a:avLst/>
          </a:prstGeom>
          <a:noFill/>
          <a:ln w="19050">
            <a:solidFill>
              <a:srgbClr val="3D82E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Text 49"/>
          <p:cNvSpPr/>
          <p:nvPr/>
        </p:nvSpPr>
        <p:spPr>
          <a:xfrm>
            <a:off x="7955280" y="5285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B6C9"/>
                </a:solidFill>
              </a:rPr>
              <a:t>ANNUAL VALUE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052560" y="5193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8FAFC"/>
                </a:solidFill>
              </a:rPr>
              <a:t>600 × loaded hourly rate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49808" y="5989320"/>
            <a:ext cx="10698480" cy="438912"/>
          </a:xfrm>
          <a:prstGeom prst="roundRect">
            <a:avLst/>
          </a:prstGeom>
          <a:solidFill>
            <a:srgbClr val="122B4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4" name="Text 52"/>
          <p:cNvSpPr/>
          <p:nvPr/>
        </p:nvSpPr>
        <p:spPr>
          <a:xfrm>
            <a:off x="932688" y="613562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AGENT RUN COST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084832" y="6080760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</a:rPr>
              <a:t>Illustrative 100 users × 3 questions/day × 22 days: $132–$792/month, depending on grounding and actions.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052560" y="61081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2C55E"/>
                </a:solidFill>
              </a:rPr>
              <a:t>VALUE GATE  •  Measure actual hours saved and credits consumed during pilot.</a:t>
            </a:r>
            <a:endParaRPr lang="en-US" sz="880" dirty="0"/>
          </a:p>
        </p:txBody>
      </p:sp>
      <p:sp>
        <p:nvSpPr>
          <p:cNvPr id="62" name="Text 0">
            <a:extLst>
              <a:ext uri="{FF2B5EF4-FFF2-40B4-BE49-F238E27FC236}">
                <a16:creationId xmlns:a16="http://schemas.microsoft.com/office/drawing/2014/main" id="{47D667CC-9263-F37A-252D-86C5261E319B}"/>
              </a:ext>
            </a:extLst>
          </p:cNvPr>
          <p:cNvSpPr/>
          <p:nvPr/>
        </p:nvSpPr>
        <p:spPr>
          <a:xfrm>
            <a:off x="548640" y="320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20" dirty="0">
                <a:solidFill>
                  <a:srgbClr val="3D82EE"/>
                </a:solidFill>
              </a:rPr>
              <a:t>08 | BUSINESS VALUE</a:t>
            </a:r>
            <a:endParaRPr lang="en-US" sz="1000" dirty="0"/>
          </a:p>
        </p:txBody>
      </p:sp>
      <p:sp>
        <p:nvSpPr>
          <p:cNvPr id="63" name="Slide Number Placeholder 0">
            <a:extLst>
              <a:ext uri="{FF2B5EF4-FFF2-40B4-BE49-F238E27FC236}">
                <a16:creationId xmlns:a16="http://schemas.microsoft.com/office/drawing/2014/main" id="{D7BC271F-5880-0523-CB99-B1FC5B74FA1D}"/>
              </a:ext>
            </a:extLst>
          </p:cNvPr>
          <p:cNvSpPr txBox="1">
            <a:spLocks/>
          </p:cNvSpPr>
          <p:nvPr/>
        </p:nvSpPr>
        <p:spPr>
          <a:xfrm>
            <a:off x="11795760" y="644652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1809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7" name="Shape 1">
            <a:extLst>
              <a:ext uri="{FF2B5EF4-FFF2-40B4-BE49-F238E27FC236}">
                <a16:creationId xmlns:a16="http://schemas.microsoft.com/office/drawing/2014/main" id="{EDA232CD-A25E-BE80-D59D-A0F6B36860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812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D82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20" dirty="0">
                <a:solidFill>
                  <a:srgbClr val="3D82EE"/>
                </a:solidFill>
              </a:rPr>
              <a:t>10 |  TIME SAVED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One shared agent turns small daily searches into major capacity.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6C9"/>
                </a:solidFill>
              </a:rPr>
              <a:t>Illustrative adoption model: 100 employees × 3 questions/day × 22 working days. Replace the 10-minute assumption after the pilot.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0D2035">
              <a:alpha val="94000"/>
            </a:srgbClr>
          </a:solidFill>
          <a:ln w="14605">
            <a:solidFill>
              <a:srgbClr val="3D82EE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D82EE"/>
                </a:solidFill>
              </a:rPr>
              <a:t>100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49808" y="239572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EMPLOYEES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108960" y="203911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B6C9"/>
                </a:solidFill>
              </a:rPr>
              <a:t>×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19856" y="1691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0D2035">
              <a:alpha val="94000"/>
            </a:srgbClr>
          </a:solidFill>
          <a:ln w="14605">
            <a:solidFill>
              <a:srgbClr val="8B5CF6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602736" y="19385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8B5CF6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602736" y="239572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QUESTIONS / DAY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61888" y="203911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B6C9"/>
                </a:solidFill>
              </a:rPr>
              <a:t>×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72784" y="1691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0D2035">
              <a:alpha val="94000"/>
            </a:srgbClr>
          </a:solidFill>
          <a:ln w="14605">
            <a:solidFill>
              <a:srgbClr val="22C55E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6455664" y="19385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2C55E"/>
                </a:solidFill>
              </a:rPr>
              <a:t>22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455664" y="239572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WORKING DAYS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814816" y="203911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B6C9"/>
                </a:solidFill>
              </a:rPr>
              <a:t>×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25712" y="1691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0D2035">
              <a:alpha val="94000"/>
            </a:srgbClr>
          </a:solidFill>
          <a:ln w="14605">
            <a:solidFill>
              <a:srgbClr val="F59E0B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9308592" y="19385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9E0B"/>
                </a:solidFill>
              </a:rPr>
              <a:t>6,600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308592" y="239572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QUESTIONS / MONTH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3063240"/>
            <a:ext cx="4892040" cy="2423160"/>
          </a:xfrm>
          <a:prstGeom prst="roundRect">
            <a:avLst>
              <a:gd name="adj" fmla="val 3019"/>
            </a:avLst>
          </a:prstGeom>
          <a:solidFill>
            <a:srgbClr val="092334">
              <a:alpha val="94000"/>
            </a:srgbClr>
          </a:solidFill>
          <a:ln w="14605">
            <a:solidFill>
              <a:srgbClr val="22C55E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932688" y="3474720"/>
            <a:ext cx="1417320" cy="1417320"/>
          </a:xfrm>
          <a:prstGeom prst="ellipse">
            <a:avLst/>
          </a:prstGeom>
          <a:solidFill>
            <a:srgbClr val="0B3157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 flipV="1">
            <a:off x="1645920" y="3749040"/>
            <a:ext cx="1" cy="438912"/>
          </a:xfrm>
          <a:prstGeom prst="line">
            <a:avLst/>
          </a:prstGeom>
          <a:noFill/>
          <a:ln w="254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Shape 22"/>
          <p:cNvSpPr/>
          <p:nvPr/>
        </p:nvSpPr>
        <p:spPr>
          <a:xfrm>
            <a:off x="1645920" y="4187952"/>
            <a:ext cx="384048" cy="201168"/>
          </a:xfrm>
          <a:prstGeom prst="line">
            <a:avLst/>
          </a:prstGeom>
          <a:noFill/>
          <a:ln w="254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2578608" y="3547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C55E"/>
                </a:solidFill>
              </a:rPr>
              <a:t>10 min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2587752" y="404164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saved per question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87752" y="44531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B6C9"/>
                </a:solidFill>
              </a:rPr>
              <a:t>Search, locate, open, scan and re-explain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15000" y="3063240"/>
            <a:ext cx="5897880" cy="2423160"/>
          </a:xfrm>
          <a:prstGeom prst="roundRect">
            <a:avLst>
              <a:gd name="adj" fmla="val 3019"/>
            </a:avLst>
          </a:prstGeom>
          <a:solidFill>
            <a:srgbClr val="0A2036">
              <a:alpha val="94000"/>
            </a:srgbClr>
          </a:solidFill>
          <a:ln w="14605">
            <a:solidFill>
              <a:srgbClr val="3D82EE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6080760" y="3547872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8FAFC"/>
                </a:solidFill>
              </a:rPr>
              <a:t>1,100 HOURS / MONTH</a:t>
            </a:r>
            <a:endParaRPr lang="en-US" sz="3100" dirty="0"/>
          </a:p>
        </p:txBody>
      </p:sp>
      <p:sp>
        <p:nvSpPr>
          <p:cNvPr id="30" name="Text 28"/>
          <p:cNvSpPr/>
          <p:nvPr/>
        </p:nvSpPr>
        <p:spPr>
          <a:xfrm>
            <a:off x="6720840" y="42611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</a:rPr>
              <a:t>13,200 HOURS / YEAR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20840" y="48006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B6C9"/>
                </a:solidFill>
              </a:rPr>
              <a:t>consulting capacity potentially released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51560" y="5806440"/>
            <a:ext cx="10104120" cy="475488"/>
          </a:xfrm>
          <a:prstGeom prst="roundRect">
            <a:avLst/>
          </a:prstGeom>
          <a:solidFill>
            <a:srgbClr val="122B48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1371600" y="596188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8FAFC"/>
                </a:solidFill>
              </a:rPr>
              <a:t>NoRA-type complex evidence request: manual 6–12 h → agent-assisted 1–2 h → illustrative saving 5–10 h per request.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8798E"/>
                </a:solidFill>
              </a:rPr>
              <a:t>BH EVIDENCE LENS  •  BUSINESS VALUE</a:t>
            </a:r>
            <a:endParaRPr lang="en-US" sz="750" dirty="0"/>
          </a:p>
        </p:txBody>
      </p:sp>
      <p:sp>
        <p:nvSpPr>
          <p:cNvPr id="38" name="Slide Number Placeholder 0">
            <a:extLst>
              <a:ext uri="{FF2B5EF4-FFF2-40B4-BE49-F238E27FC236}">
                <a16:creationId xmlns:a16="http://schemas.microsoft.com/office/drawing/2014/main" id="{CBE0852E-E7C3-D9CC-DEF2-25093EE005EC}"/>
              </a:ext>
            </a:extLst>
          </p:cNvPr>
          <p:cNvSpPr txBox="1">
            <a:spLocks/>
          </p:cNvSpPr>
          <p:nvPr/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1809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9" name="Shape 1">
            <a:extLst>
              <a:ext uri="{FF2B5EF4-FFF2-40B4-BE49-F238E27FC236}">
                <a16:creationId xmlns:a16="http://schemas.microsoft.com/office/drawing/2014/main" id="{B58D5921-F0CB-392A-CF0F-F5048347D7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812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D82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20" dirty="0">
                <a:solidFill>
                  <a:srgbClr val="3D82EE"/>
                </a:solidFill>
              </a:rPr>
              <a:t>11 |  LICENCE COST SAVED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Everyone can use the published agent. Not everyone needs a $30 licence.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6C9"/>
                </a:solidFill>
              </a:rPr>
              <a:t>Comparison for 100 employees. The agent is centrally funded through Copilot Studio credits; full M365 Copilot remains optional for users who need Office-wide functionality.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029200" cy="3429000"/>
          </a:xfrm>
          <a:prstGeom prst="roundRect">
            <a:avLst>
              <a:gd name="adj" fmla="val 2133"/>
            </a:avLst>
          </a:prstGeom>
          <a:solidFill>
            <a:srgbClr val="0D2035">
              <a:alpha val="94000"/>
            </a:srgbClr>
          </a:solidFill>
          <a:ln w="14605">
            <a:solidFill>
              <a:srgbClr val="F05252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822960" y="1993392"/>
            <a:ext cx="1920240" cy="310896"/>
          </a:xfrm>
          <a:prstGeom prst="roundRect">
            <a:avLst/>
          </a:prstGeom>
          <a:solidFill>
            <a:srgbClr val="F05252">
              <a:alpha val="9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868680" y="208940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C"/>
                </a:solidFill>
              </a:rPr>
              <a:t>BLANKET LICENSING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8FAFC"/>
                </a:solidFill>
              </a:rPr>
              <a:t>100 × $30 × 12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68680" y="331012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5252"/>
                </a:solidFill>
              </a:rPr>
              <a:t>$36,000 / YEAR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43000" y="40782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6C9"/>
                </a:solidFill>
              </a:rPr>
              <a:t>Every employee receives full Microsoft 365 Copilot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4645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</a:rPr>
              <a:t>Useful only if all 100 users need Copilot across Word, Excel, Outlook, PowerPoint and Teams.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0" y="1737360"/>
            <a:ext cx="5760720" cy="3429000"/>
          </a:xfrm>
          <a:prstGeom prst="roundRect">
            <a:avLst>
              <a:gd name="adj" fmla="val 2133"/>
            </a:avLst>
          </a:prstGeom>
          <a:solidFill>
            <a:srgbClr val="092334">
              <a:alpha val="94000"/>
            </a:srgbClr>
          </a:solidFill>
          <a:ln w="14605">
            <a:solidFill>
              <a:srgbClr val="22C55E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6144768" y="1993392"/>
            <a:ext cx="2331720" cy="310896"/>
          </a:xfrm>
          <a:prstGeom prst="roundRect">
            <a:avLst/>
          </a:prstGeom>
          <a:solidFill>
            <a:srgbClr val="22C55E">
              <a:alpha val="9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6190488" y="2089404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C"/>
                </a:solidFill>
              </a:rPr>
              <a:t>ONE SHARED STUDIO AGENT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63640" y="26334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100 users  •  6,600 questions/month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3154680"/>
            <a:ext cx="1618488" cy="1572768"/>
          </a:xfrm>
          <a:prstGeom prst="roundRect">
            <a:avLst>
              <a:gd name="adj" fmla="val 4651"/>
            </a:avLst>
          </a:prstGeom>
          <a:solidFill>
            <a:srgbClr val="0D2035">
              <a:alpha val="94000"/>
            </a:srgbClr>
          </a:solidFill>
          <a:ln w="14605">
            <a:solidFill>
              <a:srgbClr val="22C55E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6217920" y="3383280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SIMPLE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0" y="3794760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$1,584 / yr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0" y="418795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$34,416 saved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0" y="4489704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96%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09560" y="3154680"/>
            <a:ext cx="1618488" cy="1572768"/>
          </a:xfrm>
          <a:prstGeom prst="roundRect">
            <a:avLst>
              <a:gd name="adj" fmla="val 4651"/>
            </a:avLst>
          </a:prstGeom>
          <a:solidFill>
            <a:srgbClr val="0D2035">
              <a:alpha val="94000"/>
            </a:srgbClr>
          </a:solidFill>
          <a:ln w="14605">
            <a:solidFill>
              <a:srgbClr val="8B5CF6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7982712" y="3383280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</a:rPr>
              <a:t>+ ACTION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82712" y="3794760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$5,544 / yr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82712" y="418795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$30,456 saved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82712" y="4489704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85%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74352" y="3154680"/>
            <a:ext cx="1618488" cy="1572768"/>
          </a:xfrm>
          <a:prstGeom prst="roundRect">
            <a:avLst>
              <a:gd name="adj" fmla="val 4651"/>
            </a:avLst>
          </a:prstGeom>
          <a:solidFill>
            <a:srgbClr val="0D2035">
              <a:alpha val="94000"/>
            </a:srgbClr>
          </a:solidFill>
          <a:ln w="14605">
            <a:solidFill>
              <a:srgbClr val="3D82EE">
                <a:alpha val="85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9747504" y="3383280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82EE"/>
                </a:solidFill>
              </a:rPr>
              <a:t>GRAPH + ANSWER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747504" y="3794760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$9,504 / yr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747504" y="418795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$26,496 saved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747504" y="4489704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74%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5559552"/>
            <a:ext cx="10561320" cy="640080"/>
          </a:xfrm>
          <a:prstGeom prst="roundRect">
            <a:avLst/>
          </a:prstGeom>
          <a:solidFill>
            <a:srgbClr val="22C55E">
              <a:alpha val="93000"/>
            </a:srgbClr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1078992" y="57424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</a:rPr>
              <a:t>ANNUAL LICENCE SAVING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63240" y="56418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8FAFC"/>
                </a:solidFill>
              </a:rPr>
              <a:t>$26.5k–$34.4k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5989320" y="575157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74%–96% lower than licensing all 100 users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8798E"/>
                </a:solidFill>
              </a:rPr>
              <a:t>BH EVIDENCE LENS  •  BUSINESS VALUE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292840" y="649224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8798E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1865</Words>
  <Application>Microsoft Office PowerPoint</Application>
  <PresentationFormat>Widescreen</PresentationFormat>
  <Paragraphs>266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Buro Happold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 Evidence Lens</dc:title>
  <dc:subject>BH Infra AI Challenge</dc:subject>
  <dc:creator>Netal Chandak</dc:creator>
  <cp:lastModifiedBy>Netal Chandak</cp:lastModifiedBy>
  <cp:revision>5</cp:revision>
  <dcterms:created xsi:type="dcterms:W3CDTF">2026-09-28T06:24:45Z</dcterms:created>
  <dcterms:modified xsi:type="dcterms:W3CDTF">2026-09-28T14:11:02Z</dcterms:modified>
</cp:coreProperties>
</file>