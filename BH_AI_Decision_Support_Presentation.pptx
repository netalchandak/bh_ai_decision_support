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62" r:id="rId8"/>
    <p:sldId id="263" r:id="rId9"/>
    <p:sldId id="264" r:id="rId10"/>
    <p:sldId id="265" r:id="rId11"/>
    <p:sldId id="275" r:id="rId12"/>
    <p:sldId id="266" r:id="rId13"/>
    <p:sldId id="267" r:id="rId14"/>
    <p:sldId id="276" r:id="rId15"/>
    <p:sldId id="277" r:id="rId16"/>
    <p:sldId id="268" r:id="rId17"/>
    <p:sldId id="269" r:id="rId18"/>
    <p:sldId id="270" r:id="rId19"/>
    <p:sldId id="279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58"/>
  </p:normalViewPr>
  <p:slideViewPr>
    <p:cSldViewPr snapToGrid="0" snapToObjects="1">
      <p:cViewPr>
        <p:scale>
          <a:sx n="131" d="100"/>
          <a:sy n="131" d="100"/>
        </p:scale>
        <p:origin x="14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1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crc.gov.sa/wp-content/uploads/2025/11/Riyadh-Citys-Voluntary-Local-Review-VLR-2024.pdf" TargetMode="External"/><Relationship Id="rId2" Type="http://schemas.openxmlformats.org/officeDocument/2006/relationships/hyperlink" Target="https://uclg-mewa.org/wp-content/uploads/2023/01/UITP_UCLG-MEWA_Urban_Mobility_%20Report_2020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hyperlink" Target="https://www.microsoft.com/en-us/microsoft-365/copilot/pricing/copilot-studio" TargetMode="External"/><Relationship Id="rId4" Type="http://schemas.openxmlformats.org/officeDocument/2006/relationships/hyperlink" Target="https://www.as-p.com/projects/king-salman-gate-master-plan-1295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emini_Generated_Image_m26dstm26dstm26d.jpe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8869680" y="822960"/>
            <a:ext cx="2240280" cy="224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932688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A5FA"/>
                </a:solidFill>
                <a:latin typeface="Aptos"/>
              </a:rPr>
              <a:t>BH AI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7498079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FFFFFF"/>
                </a:solidFill>
                <a:latin typeface="Aptos"/>
              </a:rPr>
              <a:t>From Opinion</a:t>
            </a:r>
            <a:br>
              <a:rPr dirty="0"/>
            </a:br>
            <a:r>
              <a:rPr sz="3600" b="1" dirty="0">
                <a:solidFill>
                  <a:srgbClr val="FFFFFF"/>
                </a:solidFill>
                <a:latin typeface="Aptos"/>
              </a:rPr>
              <a:t>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CBD5E1"/>
                </a:solidFill>
                <a:latin typeface="Aptos"/>
              </a:rPr>
              <a:t>A decision-support workflow that combines internal precedent, current site evidence, external research and scenario modelling — while keeping the consultant in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16002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16002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0A5FA"/>
                </a:solidFill>
                <a:latin typeface="Aptos"/>
              </a:rPr>
              <a:t>HUMAN JUDGMENT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3977639"/>
            <a:ext cx="14173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3977639"/>
            <a:ext cx="141732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ADE80"/>
                </a:solidFill>
                <a:latin typeface="Aptos"/>
              </a:rPr>
              <a:t>BH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977639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3977639"/>
            <a:ext cx="114300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ptos"/>
              </a:rPr>
              <a:t>The agent strengthens the evidence. The consultant decides.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Aptos"/>
              </a:rPr>
              <a:t>Prepared for BH • AI decision support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6" y="25146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1" i="0" dirty="0">
                <a:solidFill>
                  <a:srgbClr val="94A3B8"/>
                </a:solidFill>
                <a:latin typeface="Aptos"/>
              </a:rPr>
              <a:t>01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 dirty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D62362-2620-BC82-AB44-F9AF4A018035}"/>
              </a:ext>
            </a:extLst>
          </p:cNvPr>
          <p:cNvSpPr txBox="1"/>
          <p:nvPr/>
        </p:nvSpPr>
        <p:spPr>
          <a:xfrm>
            <a:off x="8994431" y="3241655"/>
            <a:ext cx="1873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dirty="0">
                <a:solidFill>
                  <a:srgbClr val="CBD5E1"/>
                </a:solidFill>
                <a:latin typeface="Aptos"/>
              </a:rPr>
              <a:t>- Netal Chandak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01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The idea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Turn fragmented assumptions into a traceable evidence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2121408"/>
            <a:ext cx="347472" cy="34747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9" name="TextBox 8">
            <a:hlinkClick r:id="rId2" action="ppaction://hlinksldjump"/>
          </p:cNvPr>
          <p:cNvSpPr txBox="1"/>
          <p:nvPr/>
        </p:nvSpPr>
        <p:spPr>
          <a:xfrm>
            <a:off x="1280160" y="20756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B82F6"/>
                </a:solidFill>
                <a:latin typeface="Apto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15184"/>
            <a:ext cx="2148840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Assumptions are often built from fragmented knowledge, similar past projects and partial precedent.</a:t>
            </a:r>
          </a:p>
        </p:txBody>
      </p:sp>
      <p:sp>
        <p:nvSpPr>
          <p:cNvPr id="12" name="Oval 11"/>
          <p:cNvSpPr/>
          <p:nvPr/>
        </p:nvSpPr>
        <p:spPr>
          <a:xfrm>
            <a:off x="3639312" y="2121408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21214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4" name="TextBox 13">
            <a:hlinkClick r:id="rId3" action="ppaction://hlinksldjump"/>
          </p:cNvPr>
          <p:cNvSpPr txBox="1"/>
          <p:nvPr/>
        </p:nvSpPr>
        <p:spPr>
          <a:xfrm>
            <a:off x="4096512" y="20756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C55E"/>
                </a:solidFill>
                <a:latin typeface="Aptos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615184"/>
            <a:ext cx="2148840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Combine past similar projects + present site conditions + external evidence + future technologies + scenarios.</a:t>
            </a:r>
          </a:p>
        </p:txBody>
      </p:sp>
      <p:sp>
        <p:nvSpPr>
          <p:cNvPr id="17" name="Oval 16"/>
          <p:cNvSpPr/>
          <p:nvPr/>
        </p:nvSpPr>
        <p:spPr>
          <a:xfrm>
            <a:off x="6455664" y="2121408"/>
            <a:ext cx="347472" cy="34747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4" y="21214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6912864" y="20756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B5CF6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615184"/>
            <a:ext cx="2148840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traceable evidence package: facts, assumptions, comparables, scenarios, sensitivities and open questions.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2121408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5" y="21214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24" name="TextBox 23">
            <a:hlinkClick r:id="rId5" action="ppaction://hlinksldjump"/>
          </p:cNvPr>
          <p:cNvSpPr txBox="1"/>
          <p:nvPr/>
        </p:nvSpPr>
        <p:spPr>
          <a:xfrm>
            <a:off x="9729215" y="20756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Aptos"/>
              </a:rPr>
              <a:t>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5" y="2615184"/>
            <a:ext cx="2148840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Faster research and broader evidence — with a clearer basis for the consultant’s judgment.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681728"/>
            <a:ext cx="1005840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485546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0A5FA"/>
                </a:solidFill>
                <a:latin typeface="Aptos"/>
              </a:rPr>
              <a:t>Core 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773168"/>
            <a:ext cx="813816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The agent strengthens the evidence; the consultant owns the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235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Aptos"/>
              </a:rPr>
              <a:t>Design principle: every material number should be labelled as verified fact, internal input, assumption or modelled estimate.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33" name="Rounded Rectangle 32">
            <a:hlinkClick r:id="rId6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35" name="Oval 34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0A7F189-5537-E0FA-5BBA-6779979911D6}"/>
              </a:ext>
            </a:extLst>
          </p:cNvPr>
          <p:cNvSpPr/>
          <p:nvPr/>
        </p:nvSpPr>
        <p:spPr>
          <a:xfrm>
            <a:off x="7303786" y="1430806"/>
            <a:ext cx="3749007" cy="373531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02 —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Where evidence gets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issue is not lack of expertise. It is fragmented evidence and inconsistent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856231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82F6"/>
                </a:solidFill>
                <a:latin typeface="Aptos"/>
              </a:rP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1305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475569"/>
                </a:solidFill>
                <a:latin typeface="Aptos"/>
              </a:rPr>
              <a:t>What do we think will happen?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7706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6B6D4"/>
                </a:solidFill>
                <a:latin typeface="Aptos"/>
              </a:rPr>
              <a:t>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8724" y="2993753"/>
            <a:ext cx="3138628" cy="809243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r>
              <a:rPr lang="en-US" sz="1200" dirty="0">
                <a:solidFill>
                  <a:srgbClr val="CBD5E1"/>
                </a:solidFill>
                <a:latin typeface="Aptos"/>
              </a:rPr>
              <a:t>- Which cases are truly comparable?</a:t>
            </a:r>
          </a:p>
          <a:p>
            <a:br>
              <a:rPr lang="en-US" sz="1200" dirty="0">
                <a:solidFill>
                  <a:srgbClr val="CBD5E1"/>
                </a:solidFill>
                <a:latin typeface="Aptos"/>
              </a:rPr>
            </a:br>
            <a:r>
              <a:rPr lang="en-US" sz="1200" dirty="0">
                <a:solidFill>
                  <a:srgbClr val="CBD5E1"/>
                </a:solidFill>
                <a:latin typeface="Aptos"/>
              </a:rPr>
              <a:t>- Which assumptions matter most?</a:t>
            </a:r>
          </a:p>
          <a:p>
            <a:br>
              <a:rPr lang="en-US" sz="1200" dirty="0">
                <a:solidFill>
                  <a:srgbClr val="CBD5E1"/>
                </a:solidFill>
                <a:latin typeface="Aptos"/>
              </a:rPr>
            </a:br>
            <a:r>
              <a:rPr lang="en-US" sz="1200" dirty="0">
                <a:solidFill>
                  <a:srgbClr val="CBD5E1"/>
                </a:solidFill>
                <a:latin typeface="Aptos"/>
              </a:rPr>
              <a:t>- What changes under a different future?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6850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59E0B"/>
                </a:solidFill>
                <a:latin typeface="Aptos"/>
              </a:rPr>
              <a:t>Judgment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9593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Experience +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5994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F4444"/>
                </a:solidFill>
                <a:latin typeface="Aptos"/>
              </a:rPr>
              <a:t>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Evidence trail is fragmented.</a:t>
            </a:r>
          </a:p>
        </p:txBody>
      </p:sp>
      <p:pic>
        <p:nvPicPr>
          <p:cNvPr id="39" name="Picture 38" descr="avatar_work.pn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9674352" y="1732788"/>
            <a:ext cx="1143000" cy="1143000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44" name="Rounded Rectangle 43">
            <a:hlinkClick r:id="rId3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 dirty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6" name="Oval 45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5" y="1645920"/>
            <a:ext cx="3749007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vatar_question.png"/>
          <p:cNvPicPr>
            <a:picLocks noChangeAspect="1"/>
          </p:cNvPicPr>
          <p:nvPr/>
        </p:nvPicPr>
        <p:blipFill>
          <a:blip r:embed="rId4"/>
          <a:srcRect l="2453" r="2453"/>
          <a:stretch>
            <a:fillRect/>
          </a:stretch>
        </p:blipFill>
        <p:spPr>
          <a:xfrm>
            <a:off x="857251" y="1970532"/>
            <a:ext cx="96012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88236" y="241476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>
                <a:solidFill>
                  <a:srgbClr val="60A5FA"/>
                </a:solidFill>
                <a:latin typeface="Aptos"/>
              </a:rPr>
              <a:t>Consultant starts with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209544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315468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CBD5E1"/>
                </a:solidFill>
                <a:latin typeface="Aptos"/>
              </a:rPr>
              <a:t>Current project information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685032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630168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CBD5E1"/>
                </a:solidFill>
                <a:latin typeface="Aptos"/>
              </a:rPr>
              <a:t>Personal experience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160519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4105656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CBD5E1"/>
                </a:solidFill>
                <a:latin typeface="Aptos"/>
              </a:rPr>
              <a:t>A few known precedents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636007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581143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CBD5E1"/>
                </a:solidFill>
                <a:latin typeface="Aptos"/>
              </a:rPr>
              <a:t>Manual external research</a:t>
            </a:r>
          </a:p>
        </p:txBody>
      </p:sp>
      <p:sp>
        <p:nvSpPr>
          <p:cNvPr id="20" name="Oval 19"/>
          <p:cNvSpPr/>
          <p:nvPr/>
        </p:nvSpPr>
        <p:spPr>
          <a:xfrm>
            <a:off x="4709160" y="1874519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1874519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28616" y="2313432"/>
            <a:ext cx="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709160" y="2788920"/>
            <a:ext cx="438912" cy="43891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27889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28616" y="3227832"/>
            <a:ext cx="0" cy="457199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709160" y="3703320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37033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28616" y="4142231"/>
            <a:ext cx="0" cy="45720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709160" y="4617720"/>
            <a:ext cx="438912" cy="43891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60" y="4617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700" y="2039112"/>
            <a:ext cx="1143000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 dirty="0">
                <a:solidFill>
                  <a:srgbClr val="F59E0B"/>
                </a:solidFill>
                <a:latin typeface="Aptos"/>
              </a:rPr>
              <a:t>UNCERTAIN</a:t>
            </a:r>
            <a:r>
              <a:rPr lang="en-US" sz="800" b="1" dirty="0">
                <a:solidFill>
                  <a:srgbClr val="F59E0B"/>
                </a:solidFill>
                <a:latin typeface="Aptos"/>
              </a:rPr>
              <a:t>I</a:t>
            </a:r>
            <a:r>
              <a:rPr sz="800" b="1" i="0" dirty="0">
                <a:solidFill>
                  <a:srgbClr val="F59E0B"/>
                </a:solidFill>
                <a:latin typeface="Aptos"/>
              </a:rPr>
              <a:t>T</a:t>
            </a:r>
            <a:r>
              <a:rPr lang="en-US" sz="800" b="1" i="0" dirty="0">
                <a:solidFill>
                  <a:srgbClr val="F59E0B"/>
                </a:solidFill>
                <a:latin typeface="Aptos"/>
              </a:rPr>
              <a:t>IES</a:t>
            </a:r>
            <a:endParaRPr sz="8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D6619E0-FBD6-F042-8819-524065BC995A}"/>
              </a:ext>
            </a:extLst>
          </p:cNvPr>
          <p:cNvSpPr/>
          <p:nvPr/>
        </p:nvSpPr>
        <p:spPr>
          <a:xfrm>
            <a:off x="7592974" y="4014216"/>
            <a:ext cx="2873451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Aptos"/>
              </a:rPr>
              <a:t>The opportunity is to make the evidence path repeatable — not to automate judgment.</a:t>
            </a:r>
          </a:p>
          <a:p>
            <a:pPr algn="ctr"/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03 —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Evaluate the present site first. Then stress-test the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Scenario analysis is not a generic forecast; it starts from observable site conditions and explicit drivers.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029968"/>
            <a:ext cx="411480" cy="29260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4114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3B82F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385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B82F6"/>
                </a:solidFill>
                <a:latin typeface="Aptos"/>
              </a:rPr>
              <a:t>PRESENT SITE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585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Baseline the site and network before forecasting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56816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956816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Land use &amp; density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956816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956816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Access + network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56816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1956816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Trip origins / destinations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395728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239572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Current mode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395728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39572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Walk / PT catchments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395728"/>
            <a:ext cx="1874519" cy="2834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239572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Aptos"/>
              </a:rPr>
              <a:t>Known constraints &amp; phasing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10972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520440"/>
            <a:ext cx="41148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520440"/>
            <a:ext cx="4114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1985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Aptos"/>
              </a:rPr>
              <a:t>FUTURE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30752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Change the drivers — not just the output number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3493008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349300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Population / jobs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3493008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349300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Land-use phasing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493008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3493008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Transport supply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931920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3931920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Policy / parking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3931920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3931920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Technology adoption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3931920"/>
            <a:ext cx="1874519" cy="28346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20" y="3931920"/>
            <a:ext cx="1874519" cy="2834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CBD5E1"/>
                </a:solidFill>
                <a:latin typeface="Aptos"/>
              </a:rPr>
              <a:t>Travel behaviour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04748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5CF6"/>
                </a:solidFill>
                <a:latin typeface="Aptos"/>
              </a:rPr>
              <a:t>SCENARIO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321808"/>
            <a:ext cx="34015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" y="54681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5CF6"/>
                </a:solidFill>
                <a:latin typeface="Aptos"/>
              </a:rPr>
              <a:t>Conservative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1368" y="544982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Slower adoption • higher friction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5" y="5321808"/>
            <a:ext cx="34015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98847" y="54681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7255" y="544982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Most likely planning assumptions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0144" y="5321808"/>
            <a:ext cx="340156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74736" y="54681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2C55E"/>
                </a:solidFill>
                <a:latin typeface="Aptos"/>
              </a:rPr>
              <a:t>Upside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44" y="544982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Higher adoption • enabling conditions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Method: site baseline → drivers → scenarios → sensitivity → decision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54" name="Rounded Rectangle 53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56" name="Oval 55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04 — PROPOSED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From question to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A purpose-built workflow makes the research repeatable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93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22376" y="1993392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pic>
        <p:nvPicPr>
          <p:cNvPr id="9" name="Picture 8" descr="avatar_think.pn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1435607" y="192024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90779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B82F6"/>
                </a:solidFill>
                <a:latin typeface="Aptos"/>
              </a:rPr>
              <a:t>TASK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10128"/>
            <a:ext cx="1627632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Aptos"/>
              </a:rPr>
              <a:t>Frame the question</a:t>
            </a:r>
            <a:br/>
            <a:r>
              <a:t>Decompose work</a:t>
            </a:r>
            <a:br/>
            <a:r>
              <a:t>Set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07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828800"/>
            <a:ext cx="1993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35808" y="1993392"/>
            <a:ext cx="384048" cy="38404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35808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pic>
        <p:nvPicPr>
          <p:cNvPr id="16" name="Picture 15" descr="avatar_work.png"/>
          <p:cNvPicPr>
            <a:picLocks noChangeAspect="1"/>
          </p:cNvPicPr>
          <p:nvPr/>
        </p:nvPicPr>
        <p:blipFill>
          <a:blip r:embed="rId3"/>
          <a:srcRect l="2453" r="2453"/>
          <a:stretch>
            <a:fillRect/>
          </a:stretch>
        </p:blipFill>
        <p:spPr>
          <a:xfrm>
            <a:off x="3749039" y="192024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4952" y="290779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6B6D4"/>
                </a:solidFill>
                <a:latin typeface="Aptos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10128"/>
            <a:ext cx="1627632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Aptos"/>
              </a:rPr>
              <a:t>BH history</a:t>
            </a:r>
            <a:br/>
            <a:r>
              <a:t>External research</a:t>
            </a:r>
            <a:br/>
            <a:r>
              <a:t>Comparable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907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828800"/>
            <a:ext cx="1993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49240" y="1993392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924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pic>
        <p:nvPicPr>
          <p:cNvPr id="23" name="Picture 22" descr="avatar_analyze.png"/>
          <p:cNvPicPr>
            <a:picLocks noChangeAspect="1"/>
          </p:cNvPicPr>
          <p:nvPr/>
        </p:nvPicPr>
        <p:blipFill>
          <a:blip r:embed="rId4"/>
          <a:srcRect l="2453" r="2453"/>
          <a:stretch>
            <a:fillRect/>
          </a:stretch>
        </p:blipFill>
        <p:spPr>
          <a:xfrm>
            <a:off x="6062472" y="1920240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58383" y="290779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B5CF6"/>
                </a:solidFill>
                <a:latin typeface="Aptos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310128"/>
            <a:ext cx="1627632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Aptos"/>
              </a:rPr>
              <a:t>Check comparability</a:t>
            </a:r>
            <a:br/>
            <a:r>
              <a:t>Model scenarios</a:t>
            </a:r>
            <a:br/>
            <a:r>
              <a:t>Run 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2907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07223" y="1828800"/>
            <a:ext cx="1993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62671" y="1993392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62671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pic>
        <p:nvPicPr>
          <p:cNvPr id="30" name="Picture 29" descr="avatar_check.png"/>
          <p:cNvPicPr>
            <a:picLocks noChangeAspect="1"/>
          </p:cNvPicPr>
          <p:nvPr/>
        </p:nvPicPr>
        <p:blipFill>
          <a:blip r:embed="rId5"/>
          <a:srcRect l="2453" r="2453"/>
          <a:stretch>
            <a:fillRect/>
          </a:stretch>
        </p:blipFill>
        <p:spPr>
          <a:xfrm>
            <a:off x="8375903" y="1920240"/>
            <a:ext cx="822960" cy="822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71815" y="290779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310128"/>
            <a:ext cx="1627632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Aptos"/>
              </a:rPr>
              <a:t>Citations</a:t>
            </a:r>
            <a:br/>
            <a:r>
              <a:t>Assumptions</a:t>
            </a:r>
            <a:br/>
            <a:r>
              <a:t>Conflicts /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5" y="290779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0655" y="1828800"/>
            <a:ext cx="1993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76103" y="1993392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76103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pic>
        <p:nvPicPr>
          <p:cNvPr id="37" name="Picture 36" descr="avatar_celebrate.png"/>
          <p:cNvPicPr>
            <a:picLocks noChangeAspect="1"/>
          </p:cNvPicPr>
          <p:nvPr/>
        </p:nvPicPr>
        <p:blipFill>
          <a:blip r:embed="rId6"/>
          <a:srcRect l="2453" r="2453"/>
          <a:stretch>
            <a:fillRect/>
          </a:stretch>
        </p:blipFill>
        <p:spPr>
          <a:xfrm>
            <a:off x="10689335" y="1920240"/>
            <a:ext cx="822960" cy="8229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85247" y="290779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2C55E"/>
                </a:solidFill>
                <a:latin typeface="Aptos"/>
              </a:rPr>
              <a:t>EVIDENCE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3535" y="3310128"/>
            <a:ext cx="1627632" cy="96012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75569"/>
                </a:solidFill>
                <a:latin typeface="Aptos"/>
              </a:rPr>
              <a:t>Facts + sources</a:t>
            </a:r>
            <a:br/>
            <a:r>
              <a:t>Scenarios + ranges</a:t>
            </a:r>
            <a:br/>
            <a:r>
              <a:t>Decision context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074920"/>
            <a:ext cx="10561320" cy="7132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528523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518464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No material conclusion without source trail + assumption register + explicit uncertainty.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46" name="Rounded Rectangle 45">
            <a:hlinkClick r:id="rId7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8" name="Oval 47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dirty="0">
                <a:solidFill>
                  <a:srgbClr val="3B82F6"/>
                </a:solidFill>
                <a:latin typeface="Aptos"/>
              </a:rPr>
              <a:t>05 — AGENT VS. GENERAL CHATGPT</a:t>
            </a:r>
            <a:r>
              <a:rPr lang="en-US" sz="950" b="1" dirty="0">
                <a:solidFill>
                  <a:srgbClr val="3B82F6"/>
                </a:solidFill>
                <a:latin typeface="Aptos"/>
              </a:rPr>
              <a:t> VS. Copilot Premium VS. Copilot Agent</a:t>
            </a:r>
            <a:endParaRPr sz="95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72A"/>
                </a:solidFill>
                <a:latin typeface="Aptos"/>
              </a:rPr>
              <a:t>The differentiator is the workflow — not the 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Aptos"/>
              </a:rPr>
              <a:t>The comparison is about configured capabilities and workflow — not model intelligence.</a:t>
            </a:r>
          </a:p>
        </p:txBody>
      </p:sp>
      <p:sp>
        <p:nvSpPr>
          <p:cNvPr id="56" name="Oval 55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02920" y="1737360"/>
            <a:ext cx="1920240" cy="475488"/>
          </a:xfrm>
          <a:prstGeom prst="roundRect">
            <a:avLst/>
          </a:prstGeom>
          <a:solidFill>
            <a:srgbClr val="334155"/>
          </a:solidFill>
          <a:ln w="76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46020" y="1737360"/>
            <a:ext cx="2340864" cy="475488"/>
          </a:xfrm>
          <a:prstGeom prst="roundRect">
            <a:avLst/>
          </a:prstGeom>
          <a:solidFill>
            <a:srgbClr val="3B82F6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Purpose-built
Agent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809744" y="1737360"/>
            <a:ext cx="2340864" cy="475488"/>
          </a:xfrm>
          <a:prstGeom prst="roundRect">
            <a:avLst/>
          </a:prstGeom>
          <a:solidFill>
            <a:srgbClr val="334155"/>
          </a:solidFill>
          <a:ln w="76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General
ChatGPT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73468" y="1737360"/>
            <a:ext cx="2340864" cy="475488"/>
          </a:xfrm>
          <a:prstGeom prst="roundRect">
            <a:avLst/>
          </a:prstGeom>
          <a:solidFill>
            <a:srgbClr val="334155"/>
          </a:solidFill>
          <a:ln w="76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Copilot
Premium*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37192" y="1737360"/>
            <a:ext cx="2350008" cy="475488"/>
          </a:xfrm>
          <a:prstGeom prst="roundRect">
            <a:avLst/>
          </a:prstGeom>
          <a:solidFill>
            <a:srgbClr val="334155"/>
          </a:solidFill>
          <a:ln w="762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Copilot
agent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2267712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BH-specific knowledge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46020" y="2267712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Approved BH sources + access controls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09744" y="2267712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Depends on context provided or connected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3468" y="2267712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ground in Microsoft 365 work data + connectors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37192" y="2267712"/>
            <a:ext cx="235000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configured with selected knowledge / connectors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2807208"/>
            <a:ext cx="192024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Historical project context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46020" y="2807208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Reusable BH retrieval layer + project taxonomy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9744" y="2807208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Depends on supplied / connected context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3468" y="2807208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use organizational data when available and permitted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37192" y="2807208"/>
            <a:ext cx="2350008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configured for specific project context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3346703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External research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46020" y="3346703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Integrated as a workflow step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9744" y="3346703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Available when web / tools are enabled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73468" y="3346703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Web-grounded research available; configuration varies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37192" y="3346703"/>
            <a:ext cx="235000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configured with web / external sources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3886200"/>
            <a:ext cx="192024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Evidence traceability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46020" y="3886200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Required: source + timestamp + assumption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09744" y="3886200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cite sources; schema depends on usage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73468" y="3886200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provide grounded references; implementation varies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37192" y="3886200"/>
            <a:ext cx="2350008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designed with explicit source / evidence outputs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4425696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Scenario analysis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46020" y="4425696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Standard driver set + sensitivity ranges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809744" y="4425696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Possible, but user/workflow driven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73468" y="4425696"/>
            <a:ext cx="234086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Possible with prompts, agents and workflows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37192" y="4425696"/>
            <a:ext cx="235000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built into the agent workflow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4965192"/>
            <a:ext cx="192024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0F172A"/>
                </a:solidFill>
                <a:latin typeface="Aptos"/>
              </a:rPr>
              <a:t>Repeatable business process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446020" y="4965192"/>
            <a:ext cx="2340864" cy="502920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1">
                <a:solidFill>
                  <a:srgbClr val="3B82F6"/>
                </a:solidFill>
                <a:latin typeface="Aptos"/>
              </a:rPr>
              <a:t>Fixed BH workflow + validation gates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09744" y="4965192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Requires deliberate setup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73468" y="4965192"/>
            <a:ext cx="2340864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Can be automated with Microsoft 365 / Power Platform capabilities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537192" y="4965192"/>
            <a:ext cx="2350008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795" b="0">
                <a:solidFill>
                  <a:srgbClr val="0F172A"/>
                </a:solidFill>
                <a:latin typeface="Aptos"/>
              </a:rPr>
              <a:t>Designed for a specific repeatable process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5559552"/>
            <a:ext cx="10972800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780" b="0">
                <a:solidFill>
                  <a:srgbClr val="475569"/>
                </a:solidFill>
                <a:latin typeface="Aptos"/>
              </a:rPr>
              <a:t>* “Copilot Premium” is shown using the requested label; Microsoft’s current enterprise product name is Microsoft 365 Copilot.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5797296"/>
            <a:ext cx="1097280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880" b="1">
                <a:solidFill>
                  <a:srgbClr val="3B82F6"/>
                </a:solidFill>
                <a:latin typeface="Aptos"/>
              </a:rPr>
              <a:t>Key point: BH differentiation is the configured evidence workflow — internal precedent + external evidence + scenario analysis + validation gates.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4360" y="6419088"/>
            <a:ext cx="2560320" cy="16459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  <a:latin typeface="Aptos"/>
              </a:rPr>
              <a:t>BH AI DECISION SUPPORT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09960" y="6419088"/>
            <a:ext cx="457200" cy="16459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750" b="1">
                <a:solidFill>
                  <a:srgbClr val="475569"/>
                </a:solidFill>
                <a:latin typeface="Aptos"/>
              </a:rP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9D389C-C9B8-7859-F97C-BB81115C0BAE}"/>
              </a:ext>
            </a:extLst>
          </p:cNvPr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6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0A5FA"/>
                </a:solidFill>
                <a:latin typeface="Aptos"/>
              </a:rPr>
              <a:t>06 — LIVE DECISION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Same question. Two evidence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Use this as the interactive moment: compare the consultant’s starting evidence with the agent-generated evidence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069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vatar_question.pn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868680" y="1993392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199339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Aptos"/>
              </a:rPr>
              <a:t>PATH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Human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0A5FA"/>
                </a:solidFill>
                <a:latin typeface="Aptos"/>
              </a:rPr>
              <a:t>Starting evidence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82112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127248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Current project information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621024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566160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Personal experience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59935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4005072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Known precedents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98847"/>
            <a:ext cx="100584" cy="100584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4443983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Manual web research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74920"/>
            <a:ext cx="128016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28016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OPEN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0474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CBD5E1"/>
                </a:solidFill>
                <a:latin typeface="Aptos"/>
              </a:rPr>
              <a:t>Comparability • future drivers • sensitivity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91640"/>
            <a:ext cx="53035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vatar_analyze.png"/>
          <p:cNvPicPr>
            <a:picLocks noChangeAspect="1"/>
          </p:cNvPicPr>
          <p:nvPr/>
        </p:nvPicPr>
        <p:blipFill>
          <a:blip r:embed="rId3"/>
          <a:srcRect l="2453" r="2453"/>
          <a:stretch>
            <a:fillRect/>
          </a:stretch>
        </p:blipFill>
        <p:spPr>
          <a:xfrm>
            <a:off x="6537960" y="1993392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98079" y="199339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PATH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2402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Agent assisted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880360"/>
            <a:ext cx="960120" cy="29260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880360"/>
            <a:ext cx="96012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3B82F6"/>
                </a:solidFill>
                <a:latin typeface="Aptos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7121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F172A"/>
                </a:solidFill>
                <a:latin typeface="Aptos"/>
              </a:rPr>
              <a:t>BH history + external 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474720"/>
            <a:ext cx="960120" cy="29260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474720"/>
            <a:ext cx="96012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6B6D4"/>
                </a:solidFill>
                <a:latin typeface="Aptos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46557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F172A"/>
                </a:solidFill>
                <a:latin typeface="Aptos"/>
              </a:rPr>
              <a:t>Find genuinely comparable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069080"/>
            <a:ext cx="960120" cy="292608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069080"/>
            <a:ext cx="96012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B5CF6"/>
                </a:solidFill>
                <a:latin typeface="Aptos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05993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F172A"/>
                </a:solidFill>
                <a:latin typeface="Aptos"/>
              </a:rPr>
              <a:t>Conservative / base / upside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663440"/>
            <a:ext cx="960120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4663440"/>
            <a:ext cx="96012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65429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F172A"/>
                </a:solidFill>
                <a:latin typeface="Aptos"/>
              </a:rPr>
              <a:t>Citations + assumptions + gaps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5989320"/>
            <a:ext cx="93268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00200" y="6071616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REVEAL → more transparent decision basis, not an automated decision.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4A3B8"/>
                </a:solidFill>
                <a:latin typeface="Aptos"/>
              </a:rPr>
              <a:t>BH AI DECISION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sp>
        <p:nvSpPr>
          <p:cNvPr id="43" name="Rounded Rectangle 42">
            <a:hlinkClick r:id="rId4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5" name="Oval 44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07 — EVIDENCE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What the consultant actually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agent does not return one magic number. It returns a structured decision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1874519"/>
            <a:ext cx="3749039" cy="342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14884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EVIDENCE PACKAGE</a:t>
            </a:r>
          </a:p>
        </p:txBody>
      </p:sp>
      <p:sp>
        <p:nvSpPr>
          <p:cNvPr id="8" name="Oval 7"/>
          <p:cNvSpPr/>
          <p:nvPr/>
        </p:nvSpPr>
        <p:spPr>
          <a:xfrm>
            <a:off x="4553712" y="2697480"/>
            <a:ext cx="164592" cy="16459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4608" y="26700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Verified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67004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Source + date</a:t>
            </a:r>
          </a:p>
        </p:txBody>
      </p:sp>
      <p:sp>
        <p:nvSpPr>
          <p:cNvPr id="11" name="Oval 10"/>
          <p:cNvSpPr/>
          <p:nvPr/>
        </p:nvSpPr>
        <p:spPr>
          <a:xfrm>
            <a:off x="4553712" y="3090672"/>
            <a:ext cx="164592" cy="1645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306324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Internal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06324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Project / client data</a:t>
            </a:r>
          </a:p>
        </p:txBody>
      </p:sp>
      <p:sp>
        <p:nvSpPr>
          <p:cNvPr id="14" name="Oval 13"/>
          <p:cNvSpPr/>
          <p:nvPr/>
        </p:nvSpPr>
        <p:spPr>
          <a:xfrm>
            <a:off x="4553712" y="3483864"/>
            <a:ext cx="164592" cy="16459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345643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Comparable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4564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Why comparable</a:t>
            </a:r>
          </a:p>
        </p:txBody>
      </p:sp>
      <p:sp>
        <p:nvSpPr>
          <p:cNvPr id="17" name="Oval 16"/>
          <p:cNvSpPr/>
          <p:nvPr/>
        </p:nvSpPr>
        <p:spPr>
          <a:xfrm>
            <a:off x="4553712" y="3877056"/>
            <a:ext cx="164592" cy="1645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3849624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84962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Explicit + editable</a:t>
            </a:r>
          </a:p>
        </p:txBody>
      </p:sp>
      <p:sp>
        <p:nvSpPr>
          <p:cNvPr id="20" name="Oval 19"/>
          <p:cNvSpPr/>
          <p:nvPr/>
        </p:nvSpPr>
        <p:spPr>
          <a:xfrm>
            <a:off x="4553712" y="4270248"/>
            <a:ext cx="164592" cy="16459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424281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24281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Drivers + ranges</a:t>
            </a:r>
          </a:p>
        </p:txBody>
      </p:sp>
      <p:sp>
        <p:nvSpPr>
          <p:cNvPr id="23" name="Oval 22"/>
          <p:cNvSpPr/>
          <p:nvPr/>
        </p:nvSpPr>
        <p:spPr>
          <a:xfrm>
            <a:off x="4553712" y="4663440"/>
            <a:ext cx="164592" cy="16459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4636007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Open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636007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BD5E1"/>
                </a:solidFill>
                <a:latin typeface="Aptos"/>
              </a:rPr>
              <a:t>What still needs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011680"/>
            <a:ext cx="2926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68680" y="2240280"/>
            <a:ext cx="365760" cy="36576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2240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1762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B82F6"/>
                </a:solidFill>
                <a:latin typeface="Aptos"/>
              </a:rPr>
              <a:t>BH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4231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Prior projects / lessons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84448" y="2441448"/>
            <a:ext cx="64008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3154680"/>
            <a:ext cx="2926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8680" y="3383280"/>
            <a:ext cx="365760" cy="36576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3192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6B6D4"/>
                </a:solidFill>
                <a:latin typeface="Aptos"/>
              </a:rPr>
              <a:t>External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5661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Market + technology signals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84448" y="3584448"/>
            <a:ext cx="64008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4297680"/>
            <a:ext cx="2926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68680" y="4526280"/>
            <a:ext cx="365760" cy="36576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4526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4622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C55E"/>
                </a:solidFill>
                <a:latin typeface="Aptos"/>
              </a:rPr>
              <a:t>Site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7091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Present conditions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84448" y="4727448"/>
            <a:ext cx="640080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29600" y="201168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430768" y="2240280"/>
            <a:ext cx="365760" cy="3657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0768" y="2240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9408" y="217627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B5CF6"/>
                </a:solidFill>
                <a:latin typeface="Aptos"/>
              </a:rPr>
              <a:t>Sensitivity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9408" y="242316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What changes the result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73568" y="2441448"/>
            <a:ext cx="256032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229600" y="315468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430768" y="3383280"/>
            <a:ext cx="365760" cy="3657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0768" y="3383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9408" y="331927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Aptos"/>
              </a:rPr>
              <a:t>Decision matrix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356616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Trade-offs / constraints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973568" y="3584448"/>
            <a:ext cx="25603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229600" y="429768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30768" y="4526280"/>
            <a:ext cx="365760" cy="365760"/>
          </a:xfrm>
          <a:prstGeom prst="ellips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0768" y="4526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446227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Source trail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470916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Every material claim mapped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973568" y="4727448"/>
            <a:ext cx="256032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65" name="Rounded Rectangle 64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67" name="Oval 66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08 —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Project #1 — NoRA mobility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Use the example to show how the agent turns a target question into a bounded modelling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81360" cy="11155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0A5FA"/>
                </a:solidFill>
                <a:latin typeface="Aptos"/>
              </a:rP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56231"/>
            <a:ext cx="90982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Aptos"/>
              </a:rPr>
              <a:t>"For 2030, what is a plausible range for public transport mode share and internal trips by sustainable modes — considering history, current conditions, future estimates and growth factors?"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461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45643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B82F6"/>
                </a:solidFill>
                <a:latin typeface="Apto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673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Riyadh historical modal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96512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2% public transport / 85% private car (2016)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5" y="32461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7" y="345643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59E0B"/>
                </a:solidFill>
                <a:latin typeface="Aptos"/>
              </a:rPr>
              <a:t>PROJECT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37673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NoRA planning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4096512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Internal / project-specific — verify against approved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24612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4736" y="345643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2C55E"/>
                </a:solidFill>
                <a:latin typeface="Aptos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37673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Working 2030 estimate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4096512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Range driven by explicit assumptions; not an approved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83480"/>
            <a:ext cx="10881360" cy="8412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21208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2C55E"/>
                </a:solidFill>
                <a:latin typeface="Aptos"/>
              </a:rPr>
              <a:t>What the agent adds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29784"/>
            <a:ext cx="88239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Aptos"/>
              </a:rPr>
              <a:t>A sensitivity range + the assumptions that move it (network supply, land use, accessibility, technology adoption, policy and behaviour).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Baseline: UITP/UCLG-MEWA Urban Mobility Report 2020; project targets/inputs require internal source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28" name="Rounded Rectangle 27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30" name="Oval 29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F977B4-69F0-CF97-AEFB-E457AB78A931}"/>
              </a:ext>
            </a:extLst>
          </p:cNvPr>
          <p:cNvSpPr txBox="1"/>
          <p:nvPr/>
        </p:nvSpPr>
        <p:spPr>
          <a:xfrm>
            <a:off x="3049621" y="3244334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355194-F1EE-89C4-19AD-7457CCA09C10}"/>
              </a:ext>
            </a:extLst>
          </p:cNvPr>
          <p:cNvSpPr txBox="1"/>
          <p:nvPr/>
        </p:nvSpPr>
        <p:spPr>
          <a:xfrm>
            <a:off x="3049621" y="3244334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08 —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 err="1">
                <a:solidFill>
                  <a:srgbClr val="0F172A"/>
                </a:solidFill>
                <a:latin typeface="Aptos"/>
              </a:rPr>
              <a:t>NoRA</a:t>
            </a:r>
            <a:r>
              <a:rPr sz="2500" b="1" i="0" dirty="0">
                <a:solidFill>
                  <a:srgbClr val="0F172A"/>
                </a:solidFill>
                <a:latin typeface="Aptos"/>
              </a:rPr>
              <a:t> — </a:t>
            </a:r>
            <a:r>
              <a:rPr sz="2500" b="1" dirty="0">
                <a:solidFill>
                  <a:srgbClr val="0F172A"/>
                </a:solidFill>
                <a:latin typeface="Aptos"/>
              </a:rPr>
              <a:t>from point estimate to sensitivity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Separate long-term aspiration, working estimate and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Keep this slide only when the underlying NoRA source pack is available; otherwise label all figures as illustrative.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40" name="Rounded Rectangle 39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2" name="Oval 41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BE0DBF7-1252-CC77-D0DC-6D804DAC9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57455"/>
              </p:ext>
            </p:extLst>
          </p:nvPr>
        </p:nvGraphicFramePr>
        <p:xfrm>
          <a:off x="457200" y="1664208"/>
          <a:ext cx="11109960" cy="4233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9903">
                  <a:extLst>
                    <a:ext uri="{9D8B030D-6E8A-4147-A177-3AD203B41FA5}">
                      <a16:colId xmlns:a16="http://schemas.microsoft.com/office/drawing/2014/main" val="634164664"/>
                    </a:ext>
                  </a:extLst>
                </a:gridCol>
                <a:gridCol w="1824312">
                  <a:extLst>
                    <a:ext uri="{9D8B030D-6E8A-4147-A177-3AD203B41FA5}">
                      <a16:colId xmlns:a16="http://schemas.microsoft.com/office/drawing/2014/main" val="3292102549"/>
                    </a:ext>
                  </a:extLst>
                </a:gridCol>
                <a:gridCol w="2220062">
                  <a:extLst>
                    <a:ext uri="{9D8B030D-6E8A-4147-A177-3AD203B41FA5}">
                      <a16:colId xmlns:a16="http://schemas.microsoft.com/office/drawing/2014/main" val="2259999271"/>
                    </a:ext>
                  </a:extLst>
                </a:gridCol>
                <a:gridCol w="2152494">
                  <a:extLst>
                    <a:ext uri="{9D8B030D-6E8A-4147-A177-3AD203B41FA5}">
                      <a16:colId xmlns:a16="http://schemas.microsoft.com/office/drawing/2014/main" val="3843961864"/>
                    </a:ext>
                  </a:extLst>
                </a:gridCol>
                <a:gridCol w="2133189">
                  <a:extLst>
                    <a:ext uri="{9D8B030D-6E8A-4147-A177-3AD203B41FA5}">
                      <a16:colId xmlns:a16="http://schemas.microsoft.com/office/drawing/2014/main" val="1322621167"/>
                    </a:ext>
                  </a:extLst>
                </a:gridCol>
              </a:tblGrid>
              <a:tr h="84672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Current Baseline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NoRA</a:t>
                      </a:r>
                      <a:r>
                        <a:rPr lang="en-US" sz="1400" b="1" u="none" strike="noStrike" dirty="0">
                          <a:effectLst/>
                        </a:rPr>
                        <a:t> Long-Term Target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2030 Working Estimate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2030 Sensitivity Range</a:t>
                      </a:r>
                      <a:endParaRPr lang="en-US" sz="1400" b="1" dirty="0">
                        <a:effectLst/>
                      </a:endParaRPr>
                    </a:p>
                  </a:txBody>
                  <a:tcPr marL="50050" marR="50050" marT="21450" marB="21450" anchor="ctr"/>
                </a:tc>
                <a:extLst>
                  <a:ext uri="{0D108BD9-81ED-4DB2-BD59-A6C34878D82A}">
                    <a16:rowId xmlns:a16="http://schemas.microsoft.com/office/drawing/2014/main" val="1435016630"/>
                  </a:ext>
                </a:extLst>
              </a:tr>
              <a:tr h="84672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transport mode share</a:t>
                      </a: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Riyadh ~9% of trips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40%+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25–30%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~19–35%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extLst>
                  <a:ext uri="{0D108BD9-81ED-4DB2-BD59-A6C34878D82A}">
                    <a16:rowId xmlns:a16="http://schemas.microsoft.com/office/drawing/2014/main" val="3408801251"/>
                  </a:ext>
                </a:extLst>
              </a:tr>
              <a:tr h="84672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trips by sustainable modes </a:t>
                      </a:r>
                      <a:b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(PT + walking + micromobility)</a:t>
                      </a: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not available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50%+ KPI; </a:t>
                      </a:r>
                      <a:br>
                        <a:rPr lang="en-US" sz="14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rec 70–80%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~45%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~35–55%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extLst>
                  <a:ext uri="{0D108BD9-81ED-4DB2-BD59-A6C34878D82A}">
                    <a16:rowId xmlns:a16="http://schemas.microsoft.com/office/drawing/2014/main" val="543558901"/>
                  </a:ext>
                </a:extLst>
              </a:tr>
              <a:tr h="84672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trips within </a:t>
                      </a:r>
                      <a:r>
                        <a:rPr lang="en-US" sz="14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NoRA</a:t>
                      </a:r>
                      <a:endParaRPr lang="en-US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not available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70%+ KPI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~55–60%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~50–65%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extLst>
                  <a:ext uri="{0D108BD9-81ED-4DB2-BD59-A6C34878D82A}">
                    <a16:rowId xmlns:a16="http://schemas.microsoft.com/office/drawing/2014/main" val="1056758575"/>
                  </a:ext>
                </a:extLst>
              </a:tr>
              <a:tr h="84672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Population</a:t>
                      </a: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Greenfield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~3.0M ±7.5%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Phasing-dependent</a:t>
                      </a:r>
                      <a:endParaRPr lang="en-US" sz="1400">
                        <a:effectLst/>
                      </a:endParaRPr>
                    </a:p>
                  </a:txBody>
                  <a:tcPr marL="50050" marR="50050" marT="21450" marB="2145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2.5–3.5M</a:t>
                      </a:r>
                      <a:endParaRPr lang="en-US" sz="1400" dirty="0">
                        <a:effectLst/>
                      </a:endParaRPr>
                    </a:p>
                  </a:txBody>
                  <a:tcPr marL="50050" marR="50050" marT="21450" marB="21450" anchor="ctr"/>
                </a:tc>
                <a:extLst>
                  <a:ext uri="{0D108BD9-81ED-4DB2-BD59-A6C34878D82A}">
                    <a16:rowId xmlns:a16="http://schemas.microsoft.com/office/drawing/2014/main" val="5981556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5A6D0-7B16-FA89-902B-00A3DF98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562FD-106F-00F8-D85B-14A1E6B82A91}"/>
              </a:ext>
            </a:extLst>
          </p:cNvPr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08 — REAL-PROJECT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62B64-D423-2568-03CA-C094FCEFA67F}"/>
              </a:ext>
            </a:extLst>
          </p:cNvPr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5E8FA8C1-4C39-7991-E52C-EBF9BE59A470}"/>
              </a:ext>
            </a:extLst>
          </p:cNvPr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3172218-1E6C-CD87-7BCB-498950E8834A}"/>
              </a:ext>
            </a:extLst>
          </p:cNvPr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755519-8C74-323F-6A3E-D43C144D5883}"/>
              </a:ext>
            </a:extLst>
          </p:cNvPr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Keep this slide only when the underlying NoRA source pack is available; otherwise label all figures as illustrative.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62D211-DD40-5E93-FD66-947AE06E7643}"/>
              </a:ext>
            </a:extLst>
          </p:cNvPr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40" name="Rounded Rectangle 39">
            <a:hlinkClick r:id="rId2" action="ppaction://hlinksldjump"/>
            <a:extLst>
              <a:ext uri="{FF2B5EF4-FFF2-40B4-BE49-F238E27FC236}">
                <a16:creationId xmlns:a16="http://schemas.microsoft.com/office/drawing/2014/main" id="{66A3D401-AF8E-6BAF-7FD6-9BEDA9CDF309}"/>
              </a:ext>
            </a:extLst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CDA943-F610-67D4-F4AC-064F73927D21}"/>
              </a:ext>
            </a:extLst>
          </p:cNvPr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14AE4D9-6792-FECE-36BB-396B8909D18C}"/>
              </a:ext>
            </a:extLst>
          </p:cNvPr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7B5934-1FC6-6CC3-E700-36D316E533E4}"/>
              </a:ext>
            </a:extLst>
          </p:cNvPr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0D8489-1544-F07E-76F2-E5C2E47850CE}"/>
              </a:ext>
            </a:extLst>
          </p:cNvPr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7E83480-4868-58F5-860D-3CE482D81EF6}"/>
              </a:ext>
            </a:extLst>
          </p:cNvPr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0C484B4-A68C-A6E6-2E27-435170879120}"/>
              </a:ext>
            </a:extLst>
          </p:cNvPr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EFF007A-9B98-90B8-35F5-6BBC2BBFCCAA}"/>
              </a:ext>
            </a:extLst>
          </p:cNvPr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4C756DE-D2AF-5758-49DF-B7C1FE50166D}"/>
              </a:ext>
            </a:extLst>
          </p:cNvPr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D73407F-E888-832E-55F3-4C3257A2AC94}"/>
              </a:ext>
            </a:extLst>
          </p:cNvPr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925C123-C850-1EDB-B36D-DD3D0715FE68}"/>
              </a:ext>
            </a:extLst>
          </p:cNvPr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0F4E010-D5F9-72EB-6113-7D2E5AD7A668}"/>
              </a:ext>
            </a:extLst>
          </p:cNvPr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663A5B0-8593-C645-A120-813ABE41B958}"/>
              </a:ext>
            </a:extLst>
          </p:cNvPr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FB331ED-207D-CADA-EB7E-B1B4DC796DC1}"/>
              </a:ext>
            </a:extLst>
          </p:cNvPr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4ECA687-47D8-DEF3-B9B9-5145D0F12A70}"/>
              </a:ext>
            </a:extLst>
          </p:cNvPr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EE75068-B9FB-8D6B-F86F-6B78AA646FEF}"/>
              </a:ext>
            </a:extLst>
          </p:cNvPr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D12B4C6-340B-0B30-AC5F-F515ABE5EFA7}"/>
              </a:ext>
            </a:extLst>
          </p:cNvPr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3ACA6D6-C182-91F8-FAAA-A57DEA950245}"/>
              </a:ext>
            </a:extLst>
          </p:cNvPr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D64ECB5-979E-2200-DA27-F7542E846A90}"/>
              </a:ext>
            </a:extLst>
          </p:cNvPr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C8C3ED1-BB4C-0251-B0DE-1A3AC7DC21DD}"/>
              </a:ext>
            </a:extLst>
          </p:cNvPr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AFF14DE-AFA4-956E-AA30-50426F997FB3}"/>
              </a:ext>
            </a:extLst>
          </p:cNvPr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04028D3-F0EB-EF81-E4D7-44EAD5362B14}"/>
              </a:ext>
            </a:extLst>
          </p:cNvPr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C4C4E6-981B-2BEF-B371-62F37FE864AF}"/>
              </a:ext>
            </a:extLst>
          </p:cNvPr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1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  <p:pic>
        <p:nvPicPr>
          <p:cNvPr id="63" name="Picture 62" descr="I added the image which I liked. Can you make the background color as white, consistent with other slides">
            <a:extLst>
              <a:ext uri="{FF2B5EF4-FFF2-40B4-BE49-F238E27FC236}">
                <a16:creationId xmlns:a16="http://schemas.microsoft.com/office/drawing/2014/main" id="{A65676A6-D118-4F39-1F70-66E385676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6" y="603503"/>
            <a:ext cx="10818636" cy="54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2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09 —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Project #2 — RUA / King Salman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Use public sources for context; keep mobility shares explicitly in the modelling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800600" cy="4251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vatar_analyze.pn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1005840" y="1952244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21945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0A5FA"/>
                </a:solidFill>
                <a:latin typeface="Aptos"/>
              </a:rPr>
              <a:t>PUBLICLY VERIFIABLE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8" y="305409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 dirty="0">
                <a:solidFill>
                  <a:srgbClr val="94A3B8"/>
                </a:solidFill>
                <a:latin typeface="Aptos"/>
              </a:rP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1660" y="3044952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FFFFFF"/>
                </a:solidFill>
                <a:latin typeface="Aptos"/>
              </a:rPr>
              <a:t>Adjacent to </a:t>
            </a:r>
            <a:r>
              <a:rPr sz="900" b="0" i="0" dirty="0" err="1">
                <a:solidFill>
                  <a:srgbClr val="FFFFFF"/>
                </a:solidFill>
                <a:latin typeface="Aptos"/>
              </a:rPr>
              <a:t>AlMasjid</a:t>
            </a:r>
            <a:r>
              <a:rPr sz="900" b="0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900" b="0" i="0" dirty="0" err="1">
                <a:solidFill>
                  <a:srgbClr val="FFFFFF"/>
                </a:solidFill>
                <a:latin typeface="Aptos"/>
              </a:rPr>
              <a:t>AlHaram</a:t>
            </a:r>
            <a:r>
              <a:rPr sz="900" b="0" i="0" dirty="0">
                <a:solidFill>
                  <a:srgbClr val="FFFFFF"/>
                </a:solidFill>
                <a:latin typeface="Aptos"/>
              </a:rPr>
              <a:t>, Makkah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387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4A3B8"/>
                </a:solidFill>
                <a:latin typeface="Aptos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204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Up to ~96.4 ha / 964K m² site area in AS+P masterplan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9709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4A3B8"/>
                </a:solidFill>
                <a:latin typeface="Aptos"/>
              </a:rPr>
              <a:t>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178808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Mixed-use destination with hospitality, residential, retail and public realm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5546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4A3B8"/>
                </a:solidFill>
                <a:latin typeface="Aptos"/>
              </a:rPr>
              <a:t>Mobility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837176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ptos"/>
              </a:rPr>
              <a:t>Integrated access strategy + supporting public transport + crowd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783080"/>
            <a:ext cx="5806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210312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9E0B"/>
                </a:solidFill>
                <a:latin typeface="Aptos"/>
              </a:rPr>
              <a:t>MODELLED LAYER — DO NOT PRESENT AS 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46888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172A"/>
                </a:solidFill>
                <a:latin typeface="Aptos"/>
              </a:rPr>
              <a:t>Estimate 2030 mobility modal shares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06324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The model should combine:</a:t>
            </a:r>
          </a:p>
        </p:txBody>
      </p:sp>
      <p:sp>
        <p:nvSpPr>
          <p:cNvPr id="21" name="Oval 20"/>
          <p:cNvSpPr/>
          <p:nvPr/>
        </p:nvSpPr>
        <p:spPr>
          <a:xfrm>
            <a:off x="6053328" y="3456432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4496" y="3401568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Site program + phasing</a:t>
            </a:r>
          </a:p>
        </p:txBody>
      </p:sp>
      <p:sp>
        <p:nvSpPr>
          <p:cNvPr id="23" name="Oval 22"/>
          <p:cNvSpPr/>
          <p:nvPr/>
        </p:nvSpPr>
        <p:spPr>
          <a:xfrm>
            <a:off x="6053328" y="3849624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3794760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Visitor / resident / worker trip mix</a:t>
            </a:r>
          </a:p>
        </p:txBody>
      </p:sp>
      <p:sp>
        <p:nvSpPr>
          <p:cNvPr id="25" name="Oval 24"/>
          <p:cNvSpPr/>
          <p:nvPr/>
        </p:nvSpPr>
        <p:spPr>
          <a:xfrm>
            <a:off x="6053328" y="4242816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4496" y="4187952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Access &amp; public transport supply</a:t>
            </a:r>
          </a:p>
        </p:txBody>
      </p:sp>
      <p:sp>
        <p:nvSpPr>
          <p:cNvPr id="27" name="Oval 26"/>
          <p:cNvSpPr/>
          <p:nvPr/>
        </p:nvSpPr>
        <p:spPr>
          <a:xfrm>
            <a:off x="6053328" y="4636007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4581144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Walking / first–last-mile conditions</a:t>
            </a:r>
          </a:p>
        </p:txBody>
      </p:sp>
      <p:sp>
        <p:nvSpPr>
          <p:cNvPr id="29" name="Oval 28"/>
          <p:cNvSpPr/>
          <p:nvPr/>
        </p:nvSpPr>
        <p:spPr>
          <a:xfrm>
            <a:off x="6053328" y="5029199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54496" y="4974336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Peak pilgrimage demand</a:t>
            </a:r>
          </a:p>
        </p:txBody>
      </p:sp>
      <p:sp>
        <p:nvSpPr>
          <p:cNvPr id="31" name="Oval 30"/>
          <p:cNvSpPr/>
          <p:nvPr/>
        </p:nvSpPr>
        <p:spPr>
          <a:xfrm>
            <a:off x="6053328" y="5422391"/>
            <a:ext cx="100584" cy="100584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54496" y="5367527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Technology &amp; policy scenarios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5611887"/>
            <a:ext cx="2331720" cy="31089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53328" y="5659260"/>
            <a:ext cx="2331720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 dirty="0">
                <a:solidFill>
                  <a:srgbClr val="22C55E"/>
                </a:solidFill>
                <a:latin typeface="Aptos"/>
              </a:rPr>
              <a:t>OUTPUT = RANGE + 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1488" y="5720739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1" i="0" dirty="0">
                <a:solidFill>
                  <a:srgbClr val="475569"/>
                </a:solidFill>
                <a:latin typeface="Aptos"/>
              </a:rPr>
              <a:t>Not a single “predicted” number.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Sources: AS+P King Salman Gate Master Plan (2024–2026); RUA AlHaram; PIF. Mobility-share figures require project source data / model validation.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40" name="Rounded Rectangle 39">
            <a:hlinkClick r:id="rId3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2" name="Oval 41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2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09 — REAL-PROJECT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RUA — agent logic for the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model becomes defensible when each estimate is traceable to a driver.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96596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1837943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26060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07208" y="1810512"/>
            <a:ext cx="24780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Baseline /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737360"/>
            <a:ext cx="242316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0408" y="1810512"/>
            <a:ext cx="229514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Scenario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810512"/>
            <a:ext cx="33924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Mobility implication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12848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295144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Site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21284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295144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Existing / planned access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12848"/>
            <a:ext cx="2423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59552" y="2295144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Add capacity / constrain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212848"/>
            <a:ext cx="3520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2295144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Trip distribution + mode choice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743200"/>
            <a:ext cx="19659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2825496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Land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743200"/>
            <a:ext cx="26060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16352" y="2825496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Residential / hotel / retail mix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743200"/>
            <a:ext cx="24231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59552" y="2825496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Phasing + intensity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743200"/>
            <a:ext cx="35204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2" y="2825496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Trip generation + time of 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27355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3355848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Visitor demand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273552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3355848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Pilgrimage + tourism peaks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273552"/>
            <a:ext cx="2423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59552" y="3355848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Peak / off-peak scenarios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273552"/>
            <a:ext cx="3520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9872" y="3355848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PT capacity + crowd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803904"/>
            <a:ext cx="19659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886200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Walking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03904"/>
            <a:ext cx="26060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16352" y="3886200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Public realm + connections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803904"/>
            <a:ext cx="24231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9552" y="3886200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Heat / distance / shade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803904"/>
            <a:ext cx="35204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19872" y="3886200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Walkability + first/last mile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33425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416552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Public transport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34256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16352" y="4416552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Planned / supporting services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334256"/>
            <a:ext cx="2423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59552" y="4416552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Frequency / coverage / integration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334256"/>
            <a:ext cx="3520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9872" y="4416552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Mode share sensitivity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4864608"/>
            <a:ext cx="19659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7512" y="4946904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Technology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864608"/>
            <a:ext cx="26060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16352" y="4946904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Ride-hail, micromobility, smart access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4864608"/>
            <a:ext cx="24231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59552" y="4946904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Adoption rates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4864608"/>
            <a:ext cx="35204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19872" y="4946904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First/last mile + vehicle trips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5394959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7512" y="5477255"/>
            <a:ext cx="18196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Policy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5394959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16352" y="5477255"/>
            <a:ext cx="24597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Parking / access management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5394959"/>
            <a:ext cx="2423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59552" y="5477255"/>
            <a:ext cx="227685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Strict / moderate / open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5394959"/>
            <a:ext cx="3520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19872" y="5477255"/>
            <a:ext cx="3374136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475569"/>
                </a:solidFill>
                <a:latin typeface="Aptos"/>
              </a:rPr>
              <a:t>Mode shift + demand management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" y="5989320"/>
            <a:ext cx="109728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7240" y="6025896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3B82F6"/>
                </a:solidFill>
                <a:latin typeface="Aptos"/>
              </a:rPr>
              <a:t>Validation gate: every output range must be reproducible from the driver table + source trail.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Framework is a modelling method; it is not a claim that the listed future conditions are confirmed for RUA.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6" name="Rounded Rectangle 75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78" name="Oval 77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3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DB0BF-AA08-9BC8-0A36-C1A120A8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C49FC-304B-EC35-0D70-858C9D820947}"/>
              </a:ext>
            </a:extLst>
          </p:cNvPr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09 — REAL-PROJECT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DB018-4BDA-79B4-FE15-40EA183509C1}"/>
              </a:ext>
            </a:extLst>
          </p:cNvPr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RUA — agent logic for the estimate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141B5-5EBD-0DBE-6951-27F439011663}"/>
              </a:ext>
            </a:extLst>
          </p:cNvPr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8328E89C-8BBC-A256-EB48-F2D3A36124C5}"/>
              </a:ext>
            </a:extLst>
          </p:cNvPr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D477782-2ED5-A697-20B0-315E9DFC6DE6}"/>
              </a:ext>
            </a:extLst>
          </p:cNvPr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AFDF64-4DBE-C6F4-4634-9369BD1F2763}"/>
              </a:ext>
            </a:extLst>
          </p:cNvPr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Framework is a modelling method; it is not a claim that the listed future conditions are confirmed for RUA.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BC8363-8235-9A6C-2B72-729884D9A78B}"/>
              </a:ext>
            </a:extLst>
          </p:cNvPr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6" name="Rounded Rectangle 75">
            <a:hlinkClick r:id="rId2" action="ppaction://hlinksldjump"/>
            <a:extLst>
              <a:ext uri="{FF2B5EF4-FFF2-40B4-BE49-F238E27FC236}">
                <a16:creationId xmlns:a16="http://schemas.microsoft.com/office/drawing/2014/main" id="{90D3877B-F98F-40AC-7848-BF53856CEBC4}"/>
              </a:ext>
            </a:extLst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E76376-C3A4-A192-D9E4-F21E8B3D8714}"/>
              </a:ext>
            </a:extLst>
          </p:cNvPr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78C82DF-0A12-50B2-9A14-99EF7D404BDF}"/>
              </a:ext>
            </a:extLst>
          </p:cNvPr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73F57D1-5C82-5362-5903-3BB78EEFD831}"/>
              </a:ext>
            </a:extLst>
          </p:cNvPr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263A801-5C0A-491E-5B91-EF830082783A}"/>
              </a:ext>
            </a:extLst>
          </p:cNvPr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3FA996C-BD52-2D6A-DCF1-7DE39C449D3E}"/>
              </a:ext>
            </a:extLst>
          </p:cNvPr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7A2A20C-93B4-42E6-B1E2-F784C09E9654}"/>
              </a:ext>
            </a:extLst>
          </p:cNvPr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20A172E-7DCD-4DBF-D0EA-88B7E36CE0D9}"/>
              </a:ext>
            </a:extLst>
          </p:cNvPr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70ABEB9-AF4E-0387-4639-BF7465BA6E9F}"/>
              </a:ext>
            </a:extLst>
          </p:cNvPr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B45E3EC-7598-50F2-D60F-A6A373CF2182}"/>
              </a:ext>
            </a:extLst>
          </p:cNvPr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74A4E31-7C8B-7E81-7C98-D2F9718FAB04}"/>
              </a:ext>
            </a:extLst>
          </p:cNvPr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7994898-2EC9-82B9-CF9D-2E8870288192}"/>
              </a:ext>
            </a:extLst>
          </p:cNvPr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B1600DD-6427-8605-CF91-58066207D261}"/>
              </a:ext>
            </a:extLst>
          </p:cNvPr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2568F9A-043E-60CD-7465-C481C160BD28}"/>
              </a:ext>
            </a:extLst>
          </p:cNvPr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D596EDC-2578-B8B3-BA8C-927290D6D68F}"/>
              </a:ext>
            </a:extLst>
          </p:cNvPr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6646BF9-4D93-0192-3B59-2A445721B492}"/>
              </a:ext>
            </a:extLst>
          </p:cNvPr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5D895D1-3147-8A7E-F3BC-022493680A17}"/>
              </a:ext>
            </a:extLst>
          </p:cNvPr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C16E579-D23B-CEF9-E983-48C02A9EC5F8}"/>
              </a:ext>
            </a:extLst>
          </p:cNvPr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46411D5-61EF-757A-CBA4-98D7387FA853}"/>
              </a:ext>
            </a:extLst>
          </p:cNvPr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099DB44-81E4-F77C-3D28-82CD755BCBD4}"/>
              </a:ext>
            </a:extLst>
          </p:cNvPr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BBF1429-5FAA-5BA8-B275-AC2186D44C49}"/>
              </a:ext>
            </a:extLst>
          </p:cNvPr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059B513-3FCD-05C3-2E30-F7131BE8648D}"/>
              </a:ext>
            </a:extLst>
          </p:cNvPr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A66D632-DEE5-184F-4F19-DA310203FC0A}"/>
              </a:ext>
            </a:extLst>
          </p:cNvPr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4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8AD27F4B-3DE3-D152-AB97-E1F792EB9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4" y="1216151"/>
            <a:ext cx="9024080" cy="475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49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EE848-57AF-3A5B-BAFB-FF80F8E2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04153-26E4-DF86-CED3-15624C9E9459}"/>
              </a:ext>
            </a:extLst>
          </p:cNvPr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09 — REAL-PROJECT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E4532-BF94-42F7-F385-6CD4564F75B1}"/>
              </a:ext>
            </a:extLst>
          </p:cNvPr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RUA — agent logic for the estimate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2A0F0-31B4-0A0A-00E3-5D50619696FB}"/>
              </a:ext>
            </a:extLst>
          </p:cNvPr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E9E6E13A-9524-82B0-1AC7-1C0CEF62BCF8}"/>
              </a:ext>
            </a:extLst>
          </p:cNvPr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ECFC88C-C7BE-BD54-B898-D285C7EA11D2}"/>
              </a:ext>
            </a:extLst>
          </p:cNvPr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6EC2C9-6EA8-F162-49A3-051E6519886A}"/>
              </a:ext>
            </a:extLst>
          </p:cNvPr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Framework is a modelling method; it is not a claim that the listed future conditions are confirmed for RUA.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04AADD-B797-AA88-AC9F-CE6354C50ED8}"/>
              </a:ext>
            </a:extLst>
          </p:cNvPr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6" name="Rounded Rectangle 75">
            <a:hlinkClick r:id="rId2" action="ppaction://hlinksldjump"/>
            <a:extLst>
              <a:ext uri="{FF2B5EF4-FFF2-40B4-BE49-F238E27FC236}">
                <a16:creationId xmlns:a16="http://schemas.microsoft.com/office/drawing/2014/main" id="{A3C57D34-21D4-7EFD-EF42-C949B5BE205B}"/>
              </a:ext>
            </a:extLst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71557A3-A440-4BBF-BA69-B0F80BD8473B}"/>
              </a:ext>
            </a:extLst>
          </p:cNvPr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9F4387A-1BC2-8B0A-73A2-200C8BA2A953}"/>
              </a:ext>
            </a:extLst>
          </p:cNvPr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3E35401-9ABD-B07F-C4ED-AB3E6B0D5D6E}"/>
              </a:ext>
            </a:extLst>
          </p:cNvPr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61FA12-82A8-4A5F-E759-D82D42BEF432}"/>
              </a:ext>
            </a:extLst>
          </p:cNvPr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D139F07-780E-CC80-979D-5463C73C9919}"/>
              </a:ext>
            </a:extLst>
          </p:cNvPr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3B388D-D7AF-A10D-D9D9-E6B181D572FB}"/>
              </a:ext>
            </a:extLst>
          </p:cNvPr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5A5FF8D-1240-5E5F-398A-572E659442A6}"/>
              </a:ext>
            </a:extLst>
          </p:cNvPr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25B3BF2-5D38-686B-DF9A-9F37D1179ECF}"/>
              </a:ext>
            </a:extLst>
          </p:cNvPr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A8287B1-ADCD-E6F7-3AB7-93CBFEC90A90}"/>
              </a:ext>
            </a:extLst>
          </p:cNvPr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BA6B063-D28A-4545-254D-322964CC9620}"/>
              </a:ext>
            </a:extLst>
          </p:cNvPr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A2F6F0E-98F6-DEA5-179B-500567A520CA}"/>
              </a:ext>
            </a:extLst>
          </p:cNvPr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5D33AE7-18AF-44B9-BDF4-824441187798}"/>
              </a:ext>
            </a:extLst>
          </p:cNvPr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1C4311C-F6BE-798C-6B08-2B1ACB12ABD4}"/>
              </a:ext>
            </a:extLst>
          </p:cNvPr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44EB432-AB75-6DA7-66E9-9CF90848585A}"/>
              </a:ext>
            </a:extLst>
          </p:cNvPr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92C7CE0-07FD-9486-14CD-24D63CAE0850}"/>
              </a:ext>
            </a:extLst>
          </p:cNvPr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74F3AF8-2C3E-2CD4-EC77-1470EEDD34CA}"/>
              </a:ext>
            </a:extLst>
          </p:cNvPr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E45FEB3-331B-8FA1-529F-89301B813B27}"/>
              </a:ext>
            </a:extLst>
          </p:cNvPr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A3BF987-A09B-74C6-4FC5-040E0C6B4E1D}"/>
              </a:ext>
            </a:extLst>
          </p:cNvPr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0A8E884-2EC4-1621-0933-D27C5EF76F2F}"/>
              </a:ext>
            </a:extLst>
          </p:cNvPr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717E440-12AF-EEB1-2135-115A7DBD18E5}"/>
              </a:ext>
            </a:extLst>
          </p:cNvPr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068062F-43A8-AD0A-6AF5-5E0AB99FCFBA}"/>
              </a:ext>
            </a:extLst>
          </p:cNvPr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29F22B2-46E6-226D-996D-075EB371571E}"/>
              </a:ext>
            </a:extLst>
          </p:cNvPr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5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1F6C3-B732-3542-9A33-B5E11D19A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61287"/>
            <a:ext cx="8001000" cy="510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43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10 — CONSULTANT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What changes in the day-to-day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agent removes research friction while preserving ownership of assumptions and judgment.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12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212080" cy="3611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F4444"/>
                </a:solidFill>
                <a:latin typeface="Apto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Aptos"/>
              </a:rPr>
              <a:t>Search → remember → interpret → assemble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118104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3063240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Multiple 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557016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350215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Repeated research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95928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3941064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Inconsistent precedent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34840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379976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Hard to see sensitivity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873752"/>
            <a:ext cx="100584" cy="100584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1288" y="481888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ptos"/>
              </a:rPr>
              <a:t>Manual evidence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214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ADE80"/>
                </a:solidFill>
                <a:latin typeface="Aptos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5059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Frame → retrieve → model → validate → decide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118104"/>
            <a:ext cx="100584" cy="100584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063240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One reusable workflow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3557016"/>
            <a:ext cx="100584" cy="100584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350215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Comparable-case logic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3995928"/>
            <a:ext cx="100584" cy="100584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3941064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Explicit assumptions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4434840"/>
            <a:ext cx="100584" cy="100584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0568" y="4379976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Scenario ranges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4873752"/>
            <a:ext cx="100584" cy="100584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481888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BD5E1"/>
                </a:solidFill>
                <a:latin typeface="Aptos"/>
              </a:rPr>
              <a:t>Traceable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5669280"/>
            <a:ext cx="9052560" cy="43891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83080" y="5760720"/>
            <a:ext cx="85953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2C55E"/>
                </a:solidFill>
                <a:latin typeface="Aptos"/>
              </a:rPr>
              <a:t>CONSULTANT OWNS → question • constraints • assumptions • trade-offs • final recommendation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37" name="Rounded Rectangle 36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39" name="Oval 38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6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11 — POTENTIAL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Measure the workflow, not just the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business case should be tied to observable changes in research effort, evidence coverage and decision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039112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6771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Less manual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Time to first evidence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2039112"/>
            <a:ext cx="384048" cy="38404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6B6D4"/>
                </a:solidFill>
                <a:latin typeface="Aptos"/>
              </a:rPr>
              <a:t>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26771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Faster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54203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Time from question → scenario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2039112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5CF6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226771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Broader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54203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% of key claims with traceable 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7" y="3456432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59E0B"/>
                </a:solidFill>
                <a:latin typeface="Aptos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85031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Better sensitivity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95935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# of material assumptions surfaced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3456432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2C55E"/>
                </a:solidFill>
                <a:latin typeface="Aptos"/>
              </a:rPr>
              <a:t>ADOPTION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3685031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Repeatability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395935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Reuse across projects /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02752" y="3456432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2752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F4444"/>
                </a:solidFill>
                <a:latin typeface="Aptos"/>
              </a:rPr>
              <a:t>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3685031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Aptos"/>
              </a:rPr>
              <a:t>Human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3104" y="395935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Consultant acceptance / correction 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983480"/>
            <a:ext cx="102412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8720" y="5193792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Better evidence + systematic scenarios → better-informed decisions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47" name="Rounded Rectangle 46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9" name="Oval 48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7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 dirty="0">
                <a:solidFill>
                  <a:srgbClr val="3B82F6"/>
                </a:solidFill>
                <a:latin typeface="Aptos"/>
              </a:rPr>
              <a:t>12 — COST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641908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Aptos"/>
              </a:rPr>
              <a:t>Microsoft Copilot pricing / licensing pages checked Sept 2026. Actual enterprise pricing may vary by contract and existing entitlements.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41" name="Rounded Rectangle 40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8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823D81-4A6E-ED49-E6D1-57722D3123BD}"/>
              </a:ext>
            </a:extLst>
          </p:cNvPr>
          <p:cNvSpPr txBox="1"/>
          <p:nvPr/>
        </p:nvSpPr>
        <p:spPr>
          <a:xfrm>
            <a:off x="685800" y="1170432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4D5E77"/>
                </a:solidFill>
                <a:latin typeface="Aptos"/>
              </a:rPr>
              <a:t>Illustrative Copilot Studio agent consumption — cost depends on questions, agent actions, grounding, and the licensing model.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F2385555-6C94-A27A-9FA2-7B72E6C0118F}"/>
              </a:ext>
            </a:extLst>
          </p:cNvPr>
          <p:cNvSpPr/>
          <p:nvPr/>
        </p:nvSpPr>
        <p:spPr>
          <a:xfrm>
            <a:off x="566928" y="1572768"/>
            <a:ext cx="25420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DCD85D-5C2B-4E31-0E49-0DBFB25575F4}"/>
              </a:ext>
            </a:extLst>
          </p:cNvPr>
          <p:cNvSpPr txBox="1"/>
          <p:nvPr/>
        </p:nvSpPr>
        <p:spPr>
          <a:xfrm>
            <a:off x="566928" y="1664208"/>
            <a:ext cx="254203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357EF7"/>
                </a:solidFill>
                <a:latin typeface="Aptos"/>
              </a:rPr>
              <a:t>100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D13E0D-4015-8E11-9775-9D448D564318}"/>
              </a:ext>
            </a:extLst>
          </p:cNvPr>
          <p:cNvSpPr txBox="1"/>
          <p:nvPr/>
        </p:nvSpPr>
        <p:spPr>
          <a:xfrm>
            <a:off x="566928" y="1975104"/>
            <a:ext cx="25420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4D5E77"/>
                </a:solidFill>
                <a:latin typeface="Aptos"/>
              </a:rPr>
              <a:t>employees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CB78EFF-F3BC-FA51-A367-88EBA41F351E}"/>
              </a:ext>
            </a:extLst>
          </p:cNvPr>
          <p:cNvSpPr/>
          <p:nvPr/>
        </p:nvSpPr>
        <p:spPr>
          <a:xfrm>
            <a:off x="3401568" y="1572768"/>
            <a:ext cx="25420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FF4EBA-B38B-7314-0888-6EE0F77188D8}"/>
              </a:ext>
            </a:extLst>
          </p:cNvPr>
          <p:cNvSpPr txBox="1"/>
          <p:nvPr/>
        </p:nvSpPr>
        <p:spPr>
          <a:xfrm>
            <a:off x="3401568" y="1664208"/>
            <a:ext cx="254203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8454F5"/>
                </a:solidFill>
                <a:latin typeface="Aptos"/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9125EE-FE9C-FA49-A90E-DD7649AE638F}"/>
              </a:ext>
            </a:extLst>
          </p:cNvPr>
          <p:cNvSpPr txBox="1"/>
          <p:nvPr/>
        </p:nvSpPr>
        <p:spPr>
          <a:xfrm>
            <a:off x="3401568" y="1975104"/>
            <a:ext cx="25420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4D5E77"/>
                </a:solidFill>
                <a:latin typeface="Aptos"/>
              </a:rPr>
              <a:t>questions / day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F855FE6-A272-C265-42CD-8C9ACF306410}"/>
              </a:ext>
            </a:extLst>
          </p:cNvPr>
          <p:cNvSpPr/>
          <p:nvPr/>
        </p:nvSpPr>
        <p:spPr>
          <a:xfrm>
            <a:off x="6236208" y="1572768"/>
            <a:ext cx="25420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346B09-3BE1-E7C5-F158-4E0D74B2404D}"/>
              </a:ext>
            </a:extLst>
          </p:cNvPr>
          <p:cNvSpPr txBox="1"/>
          <p:nvPr/>
        </p:nvSpPr>
        <p:spPr>
          <a:xfrm>
            <a:off x="6236208" y="1664208"/>
            <a:ext cx="254203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4A654"/>
                </a:solidFill>
                <a:latin typeface="Aptos"/>
              </a:rPr>
              <a:t>22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2E83A1-F52F-3A24-91CA-E4AB27CA2729}"/>
              </a:ext>
            </a:extLst>
          </p:cNvPr>
          <p:cNvSpPr txBox="1"/>
          <p:nvPr/>
        </p:nvSpPr>
        <p:spPr>
          <a:xfrm>
            <a:off x="6236208" y="1975104"/>
            <a:ext cx="25420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4D5E77"/>
                </a:solidFill>
                <a:latin typeface="Aptos"/>
              </a:rPr>
              <a:t>working days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FDC21F7-6114-25C3-ECBA-4D4889792418}"/>
              </a:ext>
            </a:extLst>
          </p:cNvPr>
          <p:cNvSpPr/>
          <p:nvPr/>
        </p:nvSpPr>
        <p:spPr>
          <a:xfrm>
            <a:off x="9070848" y="1572768"/>
            <a:ext cx="25420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67CCC0-C248-1BD0-D7BE-8B13EBF51D8F}"/>
              </a:ext>
            </a:extLst>
          </p:cNvPr>
          <p:cNvSpPr txBox="1"/>
          <p:nvPr/>
        </p:nvSpPr>
        <p:spPr>
          <a:xfrm>
            <a:off x="9070848" y="1664208"/>
            <a:ext cx="254203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74CAE"/>
                </a:solidFill>
                <a:latin typeface="Aptos"/>
              </a:rPr>
              <a:t>6,600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D80B58-B78F-A0D4-5D80-8A13642F6EAB}"/>
              </a:ext>
            </a:extLst>
          </p:cNvPr>
          <p:cNvSpPr txBox="1"/>
          <p:nvPr/>
        </p:nvSpPr>
        <p:spPr>
          <a:xfrm>
            <a:off x="9070848" y="1975104"/>
            <a:ext cx="254203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4D5E77"/>
                </a:solidFill>
                <a:latin typeface="Aptos"/>
              </a:rPr>
              <a:t>questions / month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1BA069-EE24-DDD9-5654-01159AFCF0DA}"/>
              </a:ext>
            </a:extLst>
          </p:cNvPr>
          <p:cNvSpPr txBox="1"/>
          <p:nvPr/>
        </p:nvSpPr>
        <p:spPr>
          <a:xfrm>
            <a:off x="685800" y="2487168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23A"/>
                </a:solidFill>
                <a:latin typeface="Aptos"/>
              </a:rPr>
              <a:t>Usage cost scenarios — PAYG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E57C4183-21E8-F21F-CB14-2B07F6EDEF39}"/>
              </a:ext>
            </a:extLst>
          </p:cNvPr>
          <p:cNvSpPr/>
          <p:nvPr/>
        </p:nvSpPr>
        <p:spPr>
          <a:xfrm>
            <a:off x="566928" y="2788920"/>
            <a:ext cx="33558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A039458-1B95-A2F8-A356-4A596DAD2DCF}"/>
              </a:ext>
            </a:extLst>
          </p:cNvPr>
          <p:cNvSpPr/>
          <p:nvPr/>
        </p:nvSpPr>
        <p:spPr>
          <a:xfrm>
            <a:off x="566928" y="2788920"/>
            <a:ext cx="3355848" cy="429768"/>
          </a:xfrm>
          <a:prstGeom prst="rect">
            <a:avLst/>
          </a:prstGeom>
          <a:solidFill>
            <a:srgbClr val="EF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DEAB9F-8275-C19D-8055-03D53C30DACD}"/>
              </a:ext>
            </a:extLst>
          </p:cNvPr>
          <p:cNvSpPr txBox="1"/>
          <p:nvPr/>
        </p:nvSpPr>
        <p:spPr>
          <a:xfrm>
            <a:off x="704088" y="2834640"/>
            <a:ext cx="320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A654"/>
                </a:solidFill>
                <a:latin typeface="Aptos"/>
              </a:rPr>
              <a:t>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4D85F6-33BE-8F8B-2392-63DA8C36A91E}"/>
              </a:ext>
            </a:extLst>
          </p:cNvPr>
          <p:cNvSpPr txBox="1"/>
          <p:nvPr/>
        </p:nvSpPr>
        <p:spPr>
          <a:xfrm>
            <a:off x="1069848" y="2834640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23A"/>
                </a:solidFill>
                <a:latin typeface="Aptos"/>
              </a:rPr>
              <a:t>Simple generative answer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611D9EE-C5D5-E0E9-4545-165FC35A0662}"/>
              </a:ext>
            </a:extLst>
          </p:cNvPr>
          <p:cNvSpPr txBox="1"/>
          <p:nvPr/>
        </p:nvSpPr>
        <p:spPr>
          <a:xfrm>
            <a:off x="749808" y="336499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D5E77"/>
                </a:solidFill>
                <a:latin typeface="Aptos"/>
              </a:rPr>
              <a:t>2 credits / question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7D1383-DE6B-17FE-669E-1225053FEF59}"/>
              </a:ext>
            </a:extLst>
          </p:cNvPr>
          <p:cNvSpPr txBox="1"/>
          <p:nvPr/>
        </p:nvSpPr>
        <p:spPr>
          <a:xfrm>
            <a:off x="749808" y="3703320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4D5E77"/>
                </a:solidFill>
                <a:latin typeface="Aptos"/>
              </a:rPr>
              <a:t>6,600 × 2 × $0.01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F1E2F2-F724-8EF3-7434-A42F03581676}"/>
              </a:ext>
            </a:extLst>
          </p:cNvPr>
          <p:cNvSpPr txBox="1"/>
          <p:nvPr/>
        </p:nvSpPr>
        <p:spPr>
          <a:xfrm>
            <a:off x="749808" y="397763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57EF7"/>
                </a:solidFill>
                <a:latin typeface="Aptos"/>
              </a:rPr>
              <a:t>$132 / month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15AFE8-736C-D80A-6922-32F5E1BA79DA}"/>
              </a:ext>
            </a:extLst>
          </p:cNvPr>
          <p:cNvSpPr txBox="1"/>
          <p:nvPr/>
        </p:nvSpPr>
        <p:spPr>
          <a:xfrm>
            <a:off x="749808" y="4370832"/>
            <a:ext cx="2971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8454F5"/>
                </a:solidFill>
                <a:latin typeface="Aptos"/>
              </a:rPr>
              <a:t>$1.32 / employee / month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C635DF00-C8A9-4055-51D3-878AE7C8F15E}"/>
              </a:ext>
            </a:extLst>
          </p:cNvPr>
          <p:cNvSpPr/>
          <p:nvPr/>
        </p:nvSpPr>
        <p:spPr>
          <a:xfrm>
            <a:off x="4123944" y="2788920"/>
            <a:ext cx="33558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0AE083-29E7-E6F0-DA62-4956C9B45CAA}"/>
              </a:ext>
            </a:extLst>
          </p:cNvPr>
          <p:cNvSpPr/>
          <p:nvPr/>
        </p:nvSpPr>
        <p:spPr>
          <a:xfrm>
            <a:off x="4123944" y="2788920"/>
            <a:ext cx="3355848" cy="429768"/>
          </a:xfrm>
          <a:prstGeom prst="rect">
            <a:avLst/>
          </a:prstGeom>
          <a:solidFill>
            <a:srgbClr val="F7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D80E97-723A-E948-7F73-161E22B5BFBB}"/>
              </a:ext>
            </a:extLst>
          </p:cNvPr>
          <p:cNvSpPr txBox="1"/>
          <p:nvPr/>
        </p:nvSpPr>
        <p:spPr>
          <a:xfrm>
            <a:off x="4261104" y="2834640"/>
            <a:ext cx="320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454F5"/>
                </a:solidFill>
                <a:latin typeface="Aptos"/>
              </a:rPr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443D4F5-ADBF-9309-4787-F76BEA8BAD1D}"/>
              </a:ext>
            </a:extLst>
          </p:cNvPr>
          <p:cNvSpPr txBox="1"/>
          <p:nvPr/>
        </p:nvSpPr>
        <p:spPr>
          <a:xfrm>
            <a:off x="4626864" y="2834640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23A"/>
                </a:solidFill>
                <a:latin typeface="Aptos"/>
              </a:rPr>
              <a:t>Answer + 1 agent action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B75F24-3D69-3366-207D-53ED4AE0E1BF}"/>
              </a:ext>
            </a:extLst>
          </p:cNvPr>
          <p:cNvSpPr txBox="1"/>
          <p:nvPr/>
        </p:nvSpPr>
        <p:spPr>
          <a:xfrm>
            <a:off x="4306824" y="336499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D5E77"/>
                </a:solidFill>
                <a:latin typeface="Aptos"/>
              </a:rPr>
              <a:t>2 answer + 5 action = 7 credits / question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3EA948-1E38-7759-2D30-E4222AA64715}"/>
              </a:ext>
            </a:extLst>
          </p:cNvPr>
          <p:cNvSpPr txBox="1"/>
          <p:nvPr/>
        </p:nvSpPr>
        <p:spPr>
          <a:xfrm>
            <a:off x="4306824" y="3703320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4D5E77"/>
                </a:solidFill>
                <a:latin typeface="Aptos"/>
              </a:rPr>
              <a:t>6,600 × 7 × $0.01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EAF597-C757-07BE-4709-B0A375B02C90}"/>
              </a:ext>
            </a:extLst>
          </p:cNvPr>
          <p:cNvSpPr txBox="1"/>
          <p:nvPr/>
        </p:nvSpPr>
        <p:spPr>
          <a:xfrm>
            <a:off x="4306824" y="397763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57EF7"/>
                </a:solidFill>
                <a:latin typeface="Aptos"/>
              </a:rPr>
              <a:t>$462 / month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4B7AB3-2122-9F07-376E-46456764DE9B}"/>
              </a:ext>
            </a:extLst>
          </p:cNvPr>
          <p:cNvSpPr txBox="1"/>
          <p:nvPr/>
        </p:nvSpPr>
        <p:spPr>
          <a:xfrm>
            <a:off x="4306824" y="4370832"/>
            <a:ext cx="2971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8454F5"/>
                </a:solidFill>
                <a:latin typeface="Aptos"/>
              </a:rPr>
              <a:t>$4.62 / employee / month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2DC35491-B387-A548-5FE7-80E4AEC7B8E6}"/>
              </a:ext>
            </a:extLst>
          </p:cNvPr>
          <p:cNvSpPr/>
          <p:nvPr/>
        </p:nvSpPr>
        <p:spPr>
          <a:xfrm>
            <a:off x="7680960" y="2788920"/>
            <a:ext cx="33558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7C9686-1EF2-1EEF-4471-F1D5754E8BC1}"/>
              </a:ext>
            </a:extLst>
          </p:cNvPr>
          <p:cNvSpPr/>
          <p:nvPr/>
        </p:nvSpPr>
        <p:spPr>
          <a:xfrm>
            <a:off x="7680960" y="2788920"/>
            <a:ext cx="3355848" cy="429768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EBC38E-D40C-00F8-F86D-FEA34571C761}"/>
              </a:ext>
            </a:extLst>
          </p:cNvPr>
          <p:cNvSpPr txBox="1"/>
          <p:nvPr/>
        </p:nvSpPr>
        <p:spPr>
          <a:xfrm>
            <a:off x="7818120" y="2834640"/>
            <a:ext cx="320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357EF7"/>
                </a:solidFill>
                <a:latin typeface="Aptos"/>
              </a:rPr>
              <a:t>C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844699-14E6-A6A8-356D-63986445F109}"/>
              </a:ext>
            </a:extLst>
          </p:cNvPr>
          <p:cNvSpPr txBox="1"/>
          <p:nvPr/>
        </p:nvSpPr>
        <p:spPr>
          <a:xfrm>
            <a:off x="8183880" y="2834640"/>
            <a:ext cx="2651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223A"/>
                </a:solidFill>
                <a:latin typeface="Aptos"/>
              </a:rPr>
              <a:t>Tenant Graph grounding + answer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FEC0A3-0403-045F-B71B-406E893C68A9}"/>
              </a:ext>
            </a:extLst>
          </p:cNvPr>
          <p:cNvSpPr txBox="1"/>
          <p:nvPr/>
        </p:nvSpPr>
        <p:spPr>
          <a:xfrm>
            <a:off x="7863840" y="336499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D5E77"/>
                </a:solidFill>
                <a:latin typeface="Aptos"/>
              </a:rPr>
              <a:t>10 grounding + 2 answer = 12 credits / question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D483CCF-5D5C-396F-0A0A-9E2DACAE5383}"/>
              </a:ext>
            </a:extLst>
          </p:cNvPr>
          <p:cNvSpPr txBox="1"/>
          <p:nvPr/>
        </p:nvSpPr>
        <p:spPr>
          <a:xfrm>
            <a:off x="7863840" y="3703320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4D5E77"/>
                </a:solidFill>
                <a:latin typeface="Aptos"/>
              </a:rPr>
              <a:t>6,600 × 12 × $0.01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3EBCE1-6B6E-F5CE-83D6-9849DF5E5B49}"/>
              </a:ext>
            </a:extLst>
          </p:cNvPr>
          <p:cNvSpPr txBox="1"/>
          <p:nvPr/>
        </p:nvSpPr>
        <p:spPr>
          <a:xfrm>
            <a:off x="7863840" y="3977639"/>
            <a:ext cx="2971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57EF7"/>
                </a:solidFill>
                <a:latin typeface="Aptos"/>
              </a:rPr>
              <a:t>$792 / month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8EFAFC0-B84A-82F5-0867-A7C362690C1B}"/>
              </a:ext>
            </a:extLst>
          </p:cNvPr>
          <p:cNvSpPr txBox="1"/>
          <p:nvPr/>
        </p:nvSpPr>
        <p:spPr>
          <a:xfrm>
            <a:off x="7863840" y="4370832"/>
            <a:ext cx="2971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8454F5"/>
                </a:solidFill>
                <a:latin typeface="Aptos"/>
              </a:rPr>
              <a:t>$7.92 / employee / month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26AAB5FF-8F44-CE5D-EA76-42A2C026C674}"/>
              </a:ext>
            </a:extLst>
          </p:cNvPr>
          <p:cNvSpPr/>
          <p:nvPr/>
        </p:nvSpPr>
        <p:spPr>
          <a:xfrm>
            <a:off x="566928" y="4956048"/>
            <a:ext cx="10469880" cy="438912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BED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82291B1-F50C-0319-8D1C-7AFA036C8FC0}"/>
              </a:ext>
            </a:extLst>
          </p:cNvPr>
          <p:cNvSpPr txBox="1"/>
          <p:nvPr/>
        </p:nvSpPr>
        <p:spPr>
          <a:xfrm>
            <a:off x="749808" y="5056632"/>
            <a:ext cx="3017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357EF7"/>
                </a:solidFill>
                <a:latin typeface="Aptos"/>
              </a:rPr>
              <a:t>If usage rises to 5 questions/day (11,000/month):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010EFBB-2361-4444-A10F-72A5B5ADFD77}"/>
              </a:ext>
            </a:extLst>
          </p:cNvPr>
          <p:cNvSpPr txBox="1"/>
          <p:nvPr/>
        </p:nvSpPr>
        <p:spPr>
          <a:xfrm>
            <a:off x="3886200" y="5038344"/>
            <a:ext cx="3291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4223A"/>
                </a:solidFill>
                <a:latin typeface="Aptos"/>
              </a:rPr>
              <a:t>$220  /  $770  /  $1,320 per month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CBA7B10-0360-1B11-97EB-612D81942DA3}"/>
              </a:ext>
            </a:extLst>
          </p:cNvPr>
          <p:cNvSpPr txBox="1"/>
          <p:nvPr/>
        </p:nvSpPr>
        <p:spPr>
          <a:xfrm>
            <a:off x="7242048" y="5056632"/>
            <a:ext cx="1371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4D5E77"/>
                </a:solidFill>
                <a:latin typeface="Aptos"/>
              </a:rPr>
              <a:t>Scenarios A / B / C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53D8EB81-E2CF-8435-A112-0F1780E1F941}"/>
              </a:ext>
            </a:extLst>
          </p:cNvPr>
          <p:cNvSpPr/>
          <p:nvPr/>
        </p:nvSpPr>
        <p:spPr>
          <a:xfrm>
            <a:off x="566928" y="5513832"/>
            <a:ext cx="10469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FF5525F-ADD1-1832-7B54-23ADBE388762}"/>
              </a:ext>
            </a:extLst>
          </p:cNvPr>
          <p:cNvSpPr txBox="1"/>
          <p:nvPr/>
        </p:nvSpPr>
        <p:spPr>
          <a:xfrm>
            <a:off x="749808" y="5641848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4223A"/>
                </a:solidFill>
                <a:latin typeface="Aptos"/>
              </a:rPr>
              <a:t>Key takeaway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9DE5B85-0EAD-B2C6-DAFA-D65A570A7F0A}"/>
              </a:ext>
            </a:extLst>
          </p:cNvPr>
          <p:cNvSpPr txBox="1"/>
          <p:nvPr/>
        </p:nvSpPr>
        <p:spPr>
          <a:xfrm>
            <a:off x="1847088" y="5605272"/>
            <a:ext cx="8915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D5E77"/>
                </a:solidFill>
                <a:latin typeface="Aptos"/>
              </a:rPr>
              <a:t>The agent itself does not imply a $30/user charge. Under standalone PAYG, the usage bill is driven by Copilot Credits consumed.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FDAD4C-6B0A-DE88-0149-410B2236563D}"/>
              </a:ext>
            </a:extLst>
          </p:cNvPr>
          <p:cNvSpPr txBox="1"/>
          <p:nvPr/>
        </p:nvSpPr>
        <p:spPr>
          <a:xfrm>
            <a:off x="685800" y="658368"/>
            <a:ext cx="10607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dirty="0">
                <a:solidFill>
                  <a:srgbClr val="14223A"/>
                </a:solidFill>
                <a:latin typeface="Aptos"/>
              </a:rPr>
              <a:t>What would 100 employees cost per month?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58368"/>
            <a:ext cx="10607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23A"/>
                </a:solidFill>
                <a:latin typeface="Aptos"/>
              </a:rPr>
              <a:t>Do we need both licenses for every employee?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4D5E77"/>
                </a:solidFill>
                <a:latin typeface="Aptos"/>
              </a:rPr>
              <a:t>No. Separate the question of who needs Microsoft 365 Copilot from who needs access to your published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0469880" cy="658368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BED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31089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357EF7"/>
                </a:solidFill>
                <a:latin typeface="Aptos"/>
              </a:rPr>
              <a:t>For a standalone Copilot Studio PAYG agent: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664208"/>
            <a:ext cx="6903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23A"/>
                </a:solidFill>
                <a:latin typeface="Aptos"/>
              </a:rPr>
              <a:t>employees using the published agent do NOT need a separate Copilot Studio license.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0749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670048"/>
            <a:ext cx="4526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357EF7"/>
                </a:solidFill>
                <a:latin typeface="Aptos"/>
              </a:rPr>
              <a:t>A  Standalone Copilot Studio — PAYG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99232"/>
            <a:ext cx="4526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D5E77"/>
                </a:solidFill>
                <a:latin typeface="Aptos"/>
              </a:rPr>
              <a:t>Best fit when the goal is a shared agent for 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364992"/>
            <a:ext cx="4526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Azure subscription / billing connection is required.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Organization pays for Copilot Credits actually consumed.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End users of the published agent need access to the deployment channel, not a Copilot Studio user license.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Only people who create/manage agents need Copilot Studio author access; under PAYG, the author role is $0.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Can publish to channels such as Teams, depending on the agent/channel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2487168"/>
            <a:ext cx="50749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81344" y="2670048"/>
            <a:ext cx="4526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8454F5"/>
                </a:solidFill>
                <a:latin typeface="Aptos"/>
              </a:rPr>
              <a:t>B  Microsoft 365 Copilot — $30/user/month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999232"/>
            <a:ext cx="4526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4D5E77"/>
                </a:solidFill>
                <a:latin typeface="Aptos"/>
              </a:rPr>
              <a:t>A separate employee productivity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364992"/>
            <a:ext cx="4526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If all 100 employees need full Microsoft 365 Copilot: 100 × $30 = $3,000/month.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A qualifying Microsoft 365 plan is also required.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Provides broader Copilot functionality across Microsoft 365 apps.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Agents built for Teams, SharePoint and Microsoft 365 Copilot can be included with the licensed user, subject to Microsoft's terms/fair-use limits.</a:t>
            </a:r>
          </a:p>
          <a:p>
            <a:pPr>
              <a:spcAft>
                <a:spcPts val="500"/>
              </a:spcAft>
              <a:defRPr sz="940">
                <a:solidFill>
                  <a:srgbClr val="4D5E77"/>
                </a:solidFill>
                <a:latin typeface="Aptos"/>
              </a:defRPr>
            </a:pPr>
            <a:r>
              <a:t>• This is NOT automatically required just because employees use your standalone 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650992"/>
            <a:ext cx="10469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5732897"/>
            <a:ext cx="1483098" cy="2385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 dirty="0">
                <a:solidFill>
                  <a:srgbClr val="14223A"/>
                </a:solidFill>
                <a:latin typeface="Aptos"/>
              </a:rPr>
              <a:t>For </a:t>
            </a:r>
            <a:r>
              <a:rPr lang="en-US" sz="950" b="1" dirty="0">
                <a:solidFill>
                  <a:srgbClr val="14223A"/>
                </a:solidFill>
                <a:latin typeface="Aptos"/>
              </a:rPr>
              <a:t>the above </a:t>
            </a:r>
            <a:r>
              <a:rPr sz="950" b="1" dirty="0">
                <a:solidFill>
                  <a:srgbClr val="14223A"/>
                </a:solidFill>
                <a:latin typeface="Aptos"/>
              </a:rPr>
              <a:t>use case: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1194" y="5705856"/>
            <a:ext cx="82753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 dirty="0">
                <a:solidFill>
                  <a:srgbClr val="4D5E77"/>
                </a:solidFill>
                <a:latin typeface="Aptos"/>
              </a:rPr>
              <a:t>Agent in Teams / chatbot only → PAYG + usage credits.   |   Full Copilot in Word/Excel/Outlook/Teams for employees → add $30/user licenses for those employees.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20116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D5E77"/>
                </a:solidFill>
                <a:latin typeface="Aptos"/>
              </a:rPr>
              <a:t>BH AI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6510528"/>
            <a:ext cx="7223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4D5E77"/>
                </a:solidFill>
                <a:latin typeface="Aptos"/>
              </a:rPr>
              <a:t>Illustrative estimate • Verify current Microsoft pricing, licensing scope and fair-use terms before procurement.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2743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4D5E77"/>
                </a:solidFill>
                <a:latin typeface="Aptos"/>
              </a:rPr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CF78C0-8003-EEDB-3EF1-AD252A5B7D56}"/>
              </a:ext>
            </a:extLst>
          </p:cNvPr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 dirty="0">
                <a:solidFill>
                  <a:srgbClr val="3B82F6"/>
                </a:solidFill>
                <a:latin typeface="Aptos"/>
              </a:rPr>
              <a:t>12 — COST &amp; SCALE</a:t>
            </a:r>
          </a:p>
        </p:txBody>
      </p:sp>
      <p:sp>
        <p:nvSpPr>
          <p:cNvPr id="23" name="Rounded Rectangle 22">
            <a:hlinkClick r:id="rId2" action="ppaction://hlinksldjump"/>
            <a:extLst>
              <a:ext uri="{FF2B5EF4-FFF2-40B4-BE49-F238E27FC236}">
                <a16:creationId xmlns:a16="http://schemas.microsoft.com/office/drawing/2014/main" id="{2608FBD5-4096-4EC6-D08D-1C587F4C55A4}"/>
              </a:ext>
            </a:extLst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E7CAB3-1962-A619-48AF-3BF8C1A2C770}"/>
              </a:ext>
            </a:extLst>
          </p:cNvPr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85F1BE-2462-64CE-5321-0E2DC60C5F42}"/>
              </a:ext>
            </a:extLst>
          </p:cNvPr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901C12-3023-8244-726B-464E53D98F01}"/>
              </a:ext>
            </a:extLst>
          </p:cNvPr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4A2E2DD-438C-3A18-C983-DE75D577493F}"/>
              </a:ext>
            </a:extLst>
          </p:cNvPr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360CA1-F606-395D-6FF8-61256BDF2770}"/>
              </a:ext>
            </a:extLst>
          </p:cNvPr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2643B2-F075-5633-71DC-4A5EC574E6FC}"/>
              </a:ext>
            </a:extLst>
          </p:cNvPr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831162A-A87C-D44F-4AF4-F9ED0408F281}"/>
              </a:ext>
            </a:extLst>
          </p:cNvPr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B75540-AEFB-AEA5-BCE1-38D5EC9F75C4}"/>
              </a:ext>
            </a:extLst>
          </p:cNvPr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674CEC0-E9D3-4AE3-22BF-397D8C51CA78}"/>
              </a:ext>
            </a:extLst>
          </p:cNvPr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DD4EC18-CFDE-F8DB-0FAB-87B95BEB754D}"/>
              </a:ext>
            </a:extLst>
          </p:cNvPr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D61469F-0DD0-26BB-FFA3-8464E79B86F0}"/>
              </a:ext>
            </a:extLst>
          </p:cNvPr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99EAA96-9F86-A6B0-58A4-7C698777356E}"/>
              </a:ext>
            </a:extLst>
          </p:cNvPr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109569-CC75-EFD0-2E79-ECE33D0DD5DC}"/>
              </a:ext>
            </a:extLst>
          </p:cNvPr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7503F6B-6D6D-47CA-2587-67B5DE0BE301}"/>
              </a:ext>
            </a:extLst>
          </p:cNvPr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E3A2DB5-8F9C-5F9A-4575-E3DEEACD2040}"/>
              </a:ext>
            </a:extLst>
          </p:cNvPr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84A2C0A-4BE6-E74D-00B3-D6B3C0BE208A}"/>
              </a:ext>
            </a:extLst>
          </p:cNvPr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1A77417-E993-26BF-3F3E-58E9CA0FF27B}"/>
              </a:ext>
            </a:extLst>
          </p:cNvPr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02C12E2-8439-61C5-888D-6F5595E57434}"/>
              </a:ext>
            </a:extLst>
          </p:cNvPr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352834-F382-69AF-F241-93DA7C80D87E}"/>
              </a:ext>
            </a:extLst>
          </p:cNvPr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AB9554-C5DE-3E0F-61C6-0665F7BDC881}"/>
              </a:ext>
            </a:extLst>
          </p:cNvPr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6855C40-B404-EB66-53F9-702ED8747F96}"/>
              </a:ext>
            </a:extLst>
          </p:cNvPr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989EF9-1596-23C2-6253-4AC053024D98}"/>
              </a:ext>
            </a:extLst>
          </p:cNvPr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64748B"/>
                </a:solidFill>
                <a:latin typeface="Aptos"/>
              </a:rPr>
              <a:t>1</a:t>
            </a:r>
            <a:r>
              <a:rPr lang="en-US" sz="700" b="1" i="0" dirty="0">
                <a:solidFill>
                  <a:srgbClr val="64748B"/>
                </a:solidFill>
                <a:latin typeface="Aptos"/>
              </a:rPr>
              <a:t>9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13 — EVALUATION &amp;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How to prove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A strong pilot measures evidence quality and consultant time — not whether the model can produce fluent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029968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2996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Evidence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1343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% of material claims with source + date + provenance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2029968"/>
            <a:ext cx="384048" cy="38404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02996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6B6D4"/>
                </a:solidFill>
                <a:latin typeface="Aptos"/>
              </a:rPr>
              <a:t>Research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31343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Time from question → first usable evidence pack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2752" y="2029968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029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02996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5CF6"/>
                </a:solidFill>
                <a:latin typeface="Aptos"/>
              </a:rPr>
              <a:t>Scenario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31343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% of material assumptions explicitly stress-tested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7" y="3447288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447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472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59E0B"/>
                </a:solidFill>
                <a:latin typeface="Aptos"/>
              </a:rPr>
              <a:t>Human acceptance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3075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Consultant correction / override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3447288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447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4472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2C55E"/>
                </a:solidFill>
                <a:latin typeface="Aptos"/>
              </a:rPr>
              <a:t>Reusability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73075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Projects using the same workflow without custom rebuild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02752" y="3447288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3447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34472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F4444"/>
                </a:solidFill>
                <a:latin typeface="Aptos"/>
              </a:rPr>
              <a:t>Risk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730752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Unsupported / conflicting claims detected before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074920"/>
            <a:ext cx="10241280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239512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B82F6"/>
                </a:solidFill>
                <a:latin typeface="Aptos"/>
              </a:rPr>
              <a:t>Pilot gate: compare 20–30 real questions with and without the workflow, then review outputs with experienced consultants.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41" name="Rounded Rectangle 40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64748B"/>
                </a:solidFill>
                <a:latin typeface="Aptos"/>
              </a:rPr>
              <a:t>20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14 —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What the agent must never 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The credibility of the solution comes from making uncertainty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039112"/>
            <a:ext cx="384048" cy="38404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2996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3B82F6"/>
                </a:solidFill>
                <a:latin typeface="Aptos"/>
              </a:rPr>
              <a:t>SOURCE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Verified / internal / modelled /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2039112"/>
            <a:ext cx="384048" cy="38404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02996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6B6D4"/>
                </a:solidFill>
                <a:latin typeface="Aptos"/>
              </a:rPr>
              <a:t>FRESHNESS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3042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Timestamp external research and flag stale 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2752" y="2039112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02996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8B5CF6"/>
                </a:solidFill>
                <a:latin typeface="Aptos"/>
              </a:rPr>
              <a:t>COMPARABILITY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30428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Explain why a precedent is relevant before using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1247" y="3456432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4728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F59E0B"/>
                </a:solidFill>
                <a:latin typeface="Aptos"/>
              </a:rPr>
              <a:t>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2160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Expose every material assumption and allow edits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3456432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44728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EF4444"/>
                </a:solidFill>
                <a:latin typeface="Aptos"/>
              </a:rPr>
              <a:t>CONFLICTS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72160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Surface conflicting sources instead of silently choosing 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2461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02752" y="3456432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3456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344728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22C55E"/>
                </a:solidFill>
                <a:latin typeface="Aptos"/>
              </a:rPr>
              <a:t>HUMAN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3721608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75569"/>
                </a:solidFill>
                <a:latin typeface="Aptos"/>
              </a:rPr>
              <a:t>No automated recommendation or approval without consultant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5074920"/>
            <a:ext cx="98755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17320" y="5276088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The goal is not certainty. The goal is a more transparent basis for judgment.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41" name="Rounded Rectangle 40">
            <a:hlinkClick r:id="rId2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64748B"/>
                </a:solidFill>
                <a:latin typeface="Aptos"/>
              </a:rPr>
              <a:t>21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15 — SOURCES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Aptos"/>
              </a:rPr>
              <a:t>What was verified vs. what remains project-specific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97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Aptos"/>
              </a:rPr>
              <a:t>This slide is intentionally explicit so the deck does not overstate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947672"/>
            <a:ext cx="347472" cy="34747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90195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B82F6"/>
                </a:solidFill>
                <a:latin typeface="Aptos"/>
              </a:rPr>
              <a:t>Riyadh mobility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56231"/>
            <a:ext cx="6309360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UITP / UCLG-MEWA Urban Mobility Report (2020): 2016 modal split reported 2% public transport and 85% private car.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10040112" y="1911095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20" b="1" i="0">
                <a:solidFill>
                  <a:srgbClr val="3B82F6"/>
                </a:solidFill>
                <a:latin typeface="Aptos"/>
              </a:rPr>
              <a:t>Verified external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2432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2788920"/>
            <a:ext cx="347472" cy="34747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43200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6B6D4"/>
                </a:solidFill>
                <a:latin typeface="Aptos"/>
              </a:rPr>
              <a:t>Riyadh 2030 ambition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6309360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>
                <a:solidFill>
                  <a:srgbClr val="475569"/>
                </a:solidFill>
                <a:latin typeface="Aptos"/>
              </a:rPr>
              <a:t>RCRC’s 2024 Voluntary Local Review confirms the Riyadh Public Transport Program as a major urban-mobility initiative; it does not verify the NoRA-specific percentages.</a:t>
            </a:r>
          </a:p>
        </p:txBody>
      </p:sp>
      <p:sp>
        <p:nvSpPr>
          <p:cNvPr id="17" name="TextBox 16">
            <a:hlinkClick r:id="rId3"/>
          </p:cNvPr>
          <p:cNvSpPr txBox="1"/>
          <p:nvPr/>
        </p:nvSpPr>
        <p:spPr>
          <a:xfrm>
            <a:off x="10040112" y="275234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20" b="1" i="0">
                <a:solidFill>
                  <a:srgbClr val="06B6D4"/>
                </a:solidFill>
                <a:latin typeface="Aptos"/>
              </a:rPr>
              <a:t>Verified external planning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65576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630168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30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58444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2C55E"/>
                </a:solidFill>
                <a:latin typeface="Aptos"/>
              </a:rPr>
              <a:t>RUA / King Salman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38728"/>
            <a:ext cx="6309360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AS+P documents the 2024–2026 concept/master-planning work, integrated access strategy, public transport support and crowd management; PIF confirms the project context.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10040112" y="359359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20" b="1" i="0">
                <a:solidFill>
                  <a:srgbClr val="22C55E"/>
                </a:solidFill>
                <a:latin typeface="Aptos"/>
              </a:rPr>
              <a:t>Verified external project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06824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4471416"/>
            <a:ext cx="347472" cy="34747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4714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425696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5CF6"/>
                </a:solidFill>
                <a:latin typeface="Aptos"/>
              </a:rPr>
              <a:t>Microsoft cost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79976"/>
            <a:ext cx="6309360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Microsoft currently lists M365 Copilot from $30/user/month and Copilot Studio at $200 / 25,000 Copilot Credits/month for the prepaid plan; actual enterprise cost varies.</a:t>
            </a:r>
          </a:p>
        </p:txBody>
      </p:sp>
      <p:sp>
        <p:nvSpPr>
          <p:cNvPr id="29" name="TextBox 28">
            <a:hlinkClick r:id="rId5"/>
          </p:cNvPr>
          <p:cNvSpPr txBox="1"/>
          <p:nvPr/>
        </p:nvSpPr>
        <p:spPr>
          <a:xfrm>
            <a:off x="10040112" y="443484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20" b="1" i="0">
                <a:solidFill>
                  <a:srgbClr val="8B5CF6"/>
                </a:solidFill>
                <a:latin typeface="Aptos"/>
              </a:rPr>
              <a:t>Verified current list pricing; validate 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148072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531266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3126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26694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59E0B"/>
                </a:solidFill>
                <a:latin typeface="Aptos"/>
              </a:rPr>
              <a:t>NoRA / RUA mobility estimates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221224"/>
            <a:ext cx="6309360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475569"/>
                </a:solidFill>
                <a:latin typeface="Aptos"/>
              </a:rPr>
              <a:t>The specific 2030 ranges in the original deck are not independently verifiable from the supplied materials; keep them labelled illustrative unless the underlying project source pack is attached.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527608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20" b="1" i="0">
                <a:solidFill>
                  <a:srgbClr val="F59E0B"/>
                </a:solidFill>
                <a:latin typeface="Aptos"/>
              </a:rPr>
              <a:t>Requires internal/project source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F172A"/>
                </a:solidFill>
                <a:latin typeface="Aptos"/>
              </a:rPr>
              <a:t>Verification rule used in this edit: do not present an internal target, modelled range or illustrative estimate as an externally verified fact.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44652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BH AI DECISION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40" name="Rounded Rectangle 39">
            <a:hlinkClick r:id="rId6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42" name="Oval 41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64748B"/>
                </a:solidFill>
                <a:latin typeface="Aptos"/>
              </a:rPr>
              <a:t>22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85800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00" b="1" i="0" dirty="0">
                <a:solidFill>
                  <a:srgbClr val="60A5FA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61320" cy="1508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Aptos"/>
              </a:rPr>
              <a:t>AI doesn't replace the decision.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Aptos"/>
              </a:rPr>
              <a:t>It improves the evidence behind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3886200"/>
            <a:ext cx="233172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3886200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3B82F6"/>
                </a:solidFill>
                <a:latin typeface="Aptos"/>
              </a:rPr>
              <a:t>Human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3592" y="3941063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3886200"/>
            <a:ext cx="233172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3886200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2C55E"/>
                </a:solidFill>
                <a:latin typeface="Aptos"/>
              </a:rPr>
              <a:t>BH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3941063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886200"/>
            <a:ext cx="233172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3886200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59E0B"/>
                </a:solidFill>
                <a:latin typeface="Aptos"/>
              </a:rPr>
              <a:t>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2" y="3941063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886200"/>
            <a:ext cx="233172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3886200"/>
            <a:ext cx="233172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8B5CF6"/>
                </a:solidFill>
                <a:latin typeface="Aptos"/>
              </a:rPr>
              <a:t>Better-informed decisions</a:t>
            </a:r>
          </a:p>
        </p:txBody>
      </p:sp>
      <p:pic>
        <p:nvPicPr>
          <p:cNvPr id="15" name="Picture 14" descr="avatar_celebrate.png"/>
          <p:cNvPicPr>
            <a:picLocks noChangeAspect="1"/>
          </p:cNvPicPr>
          <p:nvPr/>
        </p:nvPicPr>
        <p:blipFill>
          <a:blip r:embed="rId2"/>
          <a:srcRect l="2453" r="2453"/>
          <a:stretch>
            <a:fillRect/>
          </a:stretch>
        </p:blipFill>
        <p:spPr>
          <a:xfrm>
            <a:off x="5257800" y="4663440"/>
            <a:ext cx="1417320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6227064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CBD5E1"/>
                </a:solidFill>
                <a:latin typeface="Aptos"/>
              </a:rPr>
              <a:t>The strongest version of this idea is a transparent evidence workflow — not an automated recommendation engine.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46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94A3B8"/>
                </a:solidFill>
                <a:latin typeface="Aptos"/>
              </a:rPr>
              <a:t>19</a:t>
            </a:r>
          </a:p>
        </p:txBody>
      </p:sp>
      <p:sp>
        <p:nvSpPr>
          <p:cNvPr id="18" name="Rounded Rectangle 17">
            <a:hlinkClick r:id="rId3" action="ppaction://hlinksldjump"/>
          </p:cNvPr>
          <p:cNvSpPr/>
          <p:nvPr/>
        </p:nvSpPr>
        <p:spPr>
          <a:xfrm>
            <a:off x="10808208" y="228600"/>
            <a:ext cx="566928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08208" y="21945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Aptos"/>
              </a:rPr>
              <a:t>⌂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4506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3193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1880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0567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9254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7940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6627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5314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4001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2688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1374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0061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587484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7435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761220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848088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934956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021824" y="329184"/>
            <a:ext cx="50292" cy="5029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08692" y="329184"/>
            <a:ext cx="50292" cy="50292"/>
          </a:xfrm>
          <a:prstGeom prst="ellipse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48288" y="29260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64748B"/>
                </a:solidFill>
                <a:latin typeface="Aptos"/>
              </a:rPr>
              <a:t>23</a:t>
            </a:r>
            <a:endParaRPr sz="700" b="1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3060</Words>
  <Application>Microsoft Macintosh PowerPoint</Application>
  <PresentationFormat>Widescreen</PresentationFormat>
  <Paragraphs>608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Kalantri, Chaitanya</cp:lastModifiedBy>
  <cp:revision>7</cp:revision>
  <dcterms:created xsi:type="dcterms:W3CDTF">2013-01-27T09:14:16Z</dcterms:created>
  <dcterms:modified xsi:type="dcterms:W3CDTF">2026-09-28T03:13:04Z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2026-09-28T02:05:48Z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592e7b65-05aa-440e-82bb-61b1d91b92c1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